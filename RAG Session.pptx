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Urbanist" panose="020B0604020202020204" charset="0"/>
      <p:regular r:id="rId18"/>
      <p:bold r:id="rId19"/>
      <p:italic r:id="rId20"/>
      <p:boldItalic r:id="rId21"/>
    </p:embeddedFont>
    <p:embeddedFont>
      <p:font typeface="Urbanist Light" panose="020B0604020202020204" charset="0"/>
      <p:regular r:id="rId22"/>
      <p:bold r:id="rId23"/>
      <p:italic r:id="rId24"/>
      <p:boldItalic r:id="rId25"/>
    </p:embeddedFont>
    <p:embeddedFont>
      <p:font typeface="Urbanist SemiBold"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11D716-41D7-4BE5-90DB-184058EA83EC}">
  <a:tblStyle styleId="{FE11D716-41D7-4BE5-90DB-184058EA83E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83"/>
        <p:cNvGrpSpPr/>
        <p:nvPr/>
      </p:nvGrpSpPr>
      <p:grpSpPr>
        <a:xfrm>
          <a:off x="0" y="0"/>
          <a:ext cx="0" cy="0"/>
          <a:chOff x="0" y="0"/>
          <a:chExt cx="0" cy="0"/>
        </a:xfrm>
      </p:grpSpPr>
      <p:sp>
        <p:nvSpPr>
          <p:cNvPr id="84" name="Google Shape;84;p13"/>
          <p:cNvSpPr txBox="1"/>
          <p:nvPr/>
        </p:nvSpPr>
        <p:spPr>
          <a:xfrm>
            <a:off x="2334491" y="1600807"/>
            <a:ext cx="7523018" cy="1828193"/>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dirty="0">
                <a:solidFill>
                  <a:srgbClr val="FAFAFA"/>
                </a:solidFill>
                <a:latin typeface="Urbanist"/>
                <a:ea typeface="Urbanist"/>
                <a:cs typeface="Urbanist"/>
                <a:sym typeface="Urbanist"/>
              </a:rPr>
              <a:t>From Concept to Code:</a:t>
            </a:r>
            <a:br>
              <a:rPr lang="en-US" sz="1800" b="0" i="0" u="none" strike="noStrike" cap="none" dirty="0">
                <a:solidFill>
                  <a:schemeClr val="dk1"/>
                </a:solidFill>
                <a:latin typeface="Calibri"/>
                <a:ea typeface="Calibri"/>
                <a:cs typeface="Calibri"/>
                <a:sym typeface="Calibri"/>
              </a:rPr>
            </a:br>
            <a:r>
              <a:rPr lang="en-US" sz="5400" b="1" i="0" u="none" strike="noStrike" cap="none" dirty="0">
                <a:solidFill>
                  <a:srgbClr val="00FF9D"/>
                </a:solidFill>
                <a:latin typeface="Urbanist"/>
                <a:ea typeface="Urbanist"/>
                <a:cs typeface="Urbanist"/>
                <a:sym typeface="Urbanist"/>
              </a:rPr>
              <a:t>RAG</a:t>
            </a:r>
            <a:endParaRPr dirty="0"/>
          </a:p>
        </p:txBody>
      </p:sp>
      <p:sp>
        <p:nvSpPr>
          <p:cNvPr id="85" name="Google Shape;85;p13"/>
          <p:cNvSpPr txBox="1"/>
          <p:nvPr/>
        </p:nvSpPr>
        <p:spPr>
          <a:xfrm>
            <a:off x="2286000" y="3625419"/>
            <a:ext cx="7620000" cy="72030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A1A1AA"/>
                </a:solidFill>
                <a:latin typeface="Urbanist Light"/>
                <a:ea typeface="Urbanist Light"/>
                <a:cs typeface="Urbanist Light"/>
                <a:sym typeface="Urbanist Light"/>
              </a:rPr>
              <a:t>A deep dive into Retrieval-Augmented Generation . Overcoming LLM limitations by giving them an external brain.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89"/>
        <p:cNvGrpSpPr/>
        <p:nvPr/>
      </p:nvGrpSpPr>
      <p:grpSpPr>
        <a:xfrm>
          <a:off x="0" y="0"/>
          <a:ext cx="0" cy="0"/>
          <a:chOff x="0" y="0"/>
          <a:chExt cx="0" cy="0"/>
        </a:xfrm>
      </p:grpSpPr>
      <p:pic>
        <p:nvPicPr>
          <p:cNvPr id="90" name="Google Shape;90;p14" descr="image.png"/>
          <p:cNvPicPr preferRelativeResize="0"/>
          <p:nvPr/>
        </p:nvPicPr>
        <p:blipFill rotWithShape="1">
          <a:blip r:embed="rId3">
            <a:alphaModFix/>
          </a:blip>
          <a:srcRect/>
          <a:stretch/>
        </p:blipFill>
        <p:spPr>
          <a:xfrm>
            <a:off x="227050" y="580950"/>
            <a:ext cx="5229225" cy="5830937"/>
          </a:xfrm>
          <a:prstGeom prst="rect">
            <a:avLst/>
          </a:prstGeom>
          <a:noFill/>
          <a:ln>
            <a:noFill/>
          </a:ln>
        </p:spPr>
      </p:pic>
      <p:pic>
        <p:nvPicPr>
          <p:cNvPr id="91" name="Google Shape;91;p14" descr="image.png"/>
          <p:cNvPicPr preferRelativeResize="0"/>
          <p:nvPr/>
        </p:nvPicPr>
        <p:blipFill rotWithShape="1">
          <a:blip r:embed="rId4">
            <a:alphaModFix/>
          </a:blip>
          <a:srcRect/>
          <a:stretch/>
        </p:blipFill>
        <p:spPr>
          <a:xfrm>
            <a:off x="7672275" y="1591425"/>
            <a:ext cx="3914700" cy="3965975"/>
          </a:xfrm>
          <a:prstGeom prst="rect">
            <a:avLst/>
          </a:prstGeom>
          <a:noFill/>
          <a:ln>
            <a:noFill/>
          </a:ln>
        </p:spPr>
      </p:pic>
      <p:sp>
        <p:nvSpPr>
          <p:cNvPr id="92" name="Google Shape;92;p14"/>
          <p:cNvSpPr txBox="1"/>
          <p:nvPr/>
        </p:nvSpPr>
        <p:spPr>
          <a:xfrm>
            <a:off x="1066800" y="1066800"/>
            <a:ext cx="4470600" cy="2364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4800" b="1" i="0" u="none" strike="noStrike" cap="none">
                <a:solidFill>
                  <a:srgbClr val="FAFAFA"/>
                </a:solidFill>
                <a:latin typeface="Urbanist"/>
                <a:ea typeface="Urbanist"/>
                <a:cs typeface="Urbanist"/>
                <a:sym typeface="Urbanist"/>
              </a:rPr>
              <a:t>Hello! I'm</a:t>
            </a:r>
            <a:br>
              <a:rPr lang="en-US" sz="1800" b="0" i="0" u="none" strike="noStrike" cap="none">
                <a:solidFill>
                  <a:schemeClr val="dk1"/>
                </a:solidFill>
                <a:latin typeface="Calibri"/>
                <a:ea typeface="Calibri"/>
                <a:cs typeface="Calibri"/>
                <a:sym typeface="Calibri"/>
              </a:rPr>
            </a:br>
            <a:r>
              <a:rPr lang="en-US" sz="4800" b="1" i="0" u="none" strike="noStrike" cap="none">
                <a:solidFill>
                  <a:srgbClr val="00FF9D"/>
                </a:solidFill>
                <a:latin typeface="Urbanist"/>
                <a:ea typeface="Urbanist"/>
                <a:cs typeface="Urbanist"/>
                <a:sym typeface="Urbanist"/>
              </a:rPr>
              <a:t>Youssef Bastawisy</a:t>
            </a:r>
            <a:endParaRPr/>
          </a:p>
        </p:txBody>
      </p:sp>
      <p:sp>
        <p:nvSpPr>
          <p:cNvPr id="93" name="Google Shape;93;p14"/>
          <p:cNvSpPr txBox="1"/>
          <p:nvPr/>
        </p:nvSpPr>
        <p:spPr>
          <a:xfrm>
            <a:off x="1066800" y="4292587"/>
            <a:ext cx="4470600" cy="277200"/>
          </a:xfrm>
          <a:prstGeom prst="rect">
            <a:avLst/>
          </a:prstGeom>
          <a:noFill/>
          <a:ln>
            <a:noFill/>
          </a:ln>
        </p:spPr>
        <p:txBody>
          <a:bodyPr spcFirstLastPara="1" wrap="square" lIns="285750" tIns="0" rIns="0" bIns="0" anchor="t" anchorCtr="0">
            <a:spAutoFit/>
          </a:bodyPr>
          <a:lstStyle/>
          <a:p>
            <a:pPr marL="0" marR="0" lvl="0" indent="0" algn="l" rtl="0">
              <a:spcBef>
                <a:spcPts val="0"/>
              </a:spcBef>
              <a:spcAft>
                <a:spcPts val="0"/>
              </a:spcAft>
              <a:buNone/>
            </a:pPr>
            <a:r>
              <a:rPr lang="en-US" sz="1800" b="0" i="0" u="none" strike="noStrike" cap="none">
                <a:solidFill>
                  <a:srgbClr val="00B8FF"/>
                </a:solidFill>
                <a:latin typeface="Urbanist SemiBold"/>
                <a:ea typeface="Urbanist SemiBold"/>
                <a:cs typeface="Urbanist SemiBold"/>
                <a:sym typeface="Urbanist SemiBold"/>
              </a:rPr>
              <a:t>Applied AI Engineer</a:t>
            </a:r>
            <a:endParaRPr/>
          </a:p>
        </p:txBody>
      </p:sp>
      <p:sp>
        <p:nvSpPr>
          <p:cNvPr id="94" name="Google Shape;94;p14"/>
          <p:cNvSpPr txBox="1"/>
          <p:nvPr/>
        </p:nvSpPr>
        <p:spPr>
          <a:xfrm>
            <a:off x="1409700" y="4606912"/>
            <a:ext cx="39147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AFAFA"/>
                </a:solidFill>
                <a:latin typeface="Urbanist Light"/>
                <a:ea typeface="Urbanist Light"/>
                <a:cs typeface="Urbanist Light"/>
                <a:sym typeface="Urbanist Light"/>
              </a:rPr>
              <a:t>@ Cycls</a:t>
            </a:r>
            <a:endParaRPr/>
          </a:p>
        </p:txBody>
      </p:sp>
      <p:sp>
        <p:nvSpPr>
          <p:cNvPr id="95" name="Google Shape;95;p14"/>
          <p:cNvSpPr txBox="1"/>
          <p:nvPr/>
        </p:nvSpPr>
        <p:spPr>
          <a:xfrm>
            <a:off x="1066800" y="5140312"/>
            <a:ext cx="4470600" cy="277200"/>
          </a:xfrm>
          <a:prstGeom prst="rect">
            <a:avLst/>
          </a:prstGeom>
          <a:noFill/>
          <a:ln>
            <a:noFill/>
          </a:ln>
        </p:spPr>
        <p:txBody>
          <a:bodyPr spcFirstLastPara="1" wrap="square" lIns="333375" tIns="0" rIns="0" bIns="0" anchor="t" anchorCtr="0">
            <a:spAutoFit/>
          </a:bodyPr>
          <a:lstStyle/>
          <a:p>
            <a:pPr marL="0" marR="0" lvl="0" indent="0" algn="l" rtl="0">
              <a:spcBef>
                <a:spcPts val="0"/>
              </a:spcBef>
              <a:spcAft>
                <a:spcPts val="0"/>
              </a:spcAft>
              <a:buNone/>
            </a:pPr>
            <a:r>
              <a:rPr lang="en-US" sz="1800" b="0" i="0" u="none" strike="noStrike" cap="none">
                <a:solidFill>
                  <a:srgbClr val="00B8FF"/>
                </a:solidFill>
                <a:latin typeface="Urbanist SemiBold"/>
                <a:ea typeface="Urbanist SemiBold"/>
                <a:cs typeface="Urbanist SemiBold"/>
                <a:sym typeface="Urbanist SemiBold"/>
              </a:rPr>
              <a:t>Analytics Instructor</a:t>
            </a:r>
            <a:endParaRPr/>
          </a:p>
        </p:txBody>
      </p:sp>
      <p:sp>
        <p:nvSpPr>
          <p:cNvPr id="96" name="Google Shape;96;p14"/>
          <p:cNvSpPr txBox="1"/>
          <p:nvPr/>
        </p:nvSpPr>
        <p:spPr>
          <a:xfrm>
            <a:off x="1409700" y="5454637"/>
            <a:ext cx="39147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AFAFA"/>
                </a:solidFill>
                <a:latin typeface="Urbanist Light"/>
                <a:ea typeface="Urbanist Light"/>
                <a:cs typeface="Urbanist Light"/>
                <a:sym typeface="Urbanist Light"/>
              </a:rPr>
              <a:t>@ Arabian Academy</a:t>
            </a:r>
            <a:endParaRPr/>
          </a:p>
        </p:txBody>
      </p:sp>
      <p:pic>
        <p:nvPicPr>
          <p:cNvPr id="97" name="Google Shape;97;p14" descr="image.png"/>
          <p:cNvPicPr preferRelativeResize="0"/>
          <p:nvPr/>
        </p:nvPicPr>
        <p:blipFill rotWithShape="1">
          <a:blip r:embed="rId5">
            <a:alphaModFix/>
          </a:blip>
          <a:srcRect/>
          <a:stretch/>
        </p:blipFill>
        <p:spPr>
          <a:xfrm>
            <a:off x="1066800" y="4349737"/>
            <a:ext cx="171450" cy="190500"/>
          </a:xfrm>
          <a:prstGeom prst="rect">
            <a:avLst/>
          </a:prstGeom>
          <a:noFill/>
          <a:ln>
            <a:noFill/>
          </a:ln>
        </p:spPr>
      </p:pic>
      <p:pic>
        <p:nvPicPr>
          <p:cNvPr id="98" name="Google Shape;98;p14" descr="image.png"/>
          <p:cNvPicPr preferRelativeResize="0"/>
          <p:nvPr/>
        </p:nvPicPr>
        <p:blipFill rotWithShape="1">
          <a:blip r:embed="rId6">
            <a:alphaModFix/>
          </a:blip>
          <a:srcRect/>
          <a:stretch/>
        </p:blipFill>
        <p:spPr>
          <a:xfrm>
            <a:off x="1066800" y="5197462"/>
            <a:ext cx="238125" cy="190500"/>
          </a:xfrm>
          <a:prstGeom prst="rect">
            <a:avLst/>
          </a:prstGeom>
          <a:noFill/>
          <a:ln>
            <a:noFill/>
          </a:ln>
        </p:spPr>
      </p:pic>
      <p:pic>
        <p:nvPicPr>
          <p:cNvPr id="99" name="Google Shape;99;p14" descr="image.png"/>
          <p:cNvPicPr preferRelativeResize="0"/>
          <p:nvPr/>
        </p:nvPicPr>
        <p:blipFill rotWithShape="1">
          <a:blip r:embed="rId3">
            <a:alphaModFix/>
          </a:blip>
          <a:srcRect l="-113870" r="113870"/>
          <a:stretch/>
        </p:blipFill>
        <p:spPr>
          <a:xfrm>
            <a:off x="451950" y="1027063"/>
            <a:ext cx="5229225" cy="5830937"/>
          </a:xfrm>
          <a:prstGeom prst="rect">
            <a:avLst/>
          </a:prstGeom>
          <a:noFill/>
          <a:ln>
            <a:noFill/>
          </a:ln>
        </p:spPr>
      </p:pic>
      <p:pic>
        <p:nvPicPr>
          <p:cNvPr id="100" name="Google Shape;100;p14" title="WhatsApp Image 2025-11-21 at 23.29.27_e0cc32f1.jpg"/>
          <p:cNvPicPr preferRelativeResize="0"/>
          <p:nvPr/>
        </p:nvPicPr>
        <p:blipFill rotWithShape="1">
          <a:blip r:embed="rId7">
            <a:alphaModFix/>
          </a:blip>
          <a:srcRect l="3780" t="5260" r="-3780" b="-5260"/>
          <a:stretch/>
        </p:blipFill>
        <p:spPr>
          <a:xfrm>
            <a:off x="7921691" y="1591425"/>
            <a:ext cx="3415870" cy="33770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104"/>
        <p:cNvGrpSpPr/>
        <p:nvPr/>
      </p:nvGrpSpPr>
      <p:grpSpPr>
        <a:xfrm>
          <a:off x="0" y="0"/>
          <a:ext cx="0" cy="0"/>
          <a:chOff x="0" y="0"/>
          <a:chExt cx="0" cy="0"/>
        </a:xfrm>
      </p:grpSpPr>
      <p:pic>
        <p:nvPicPr>
          <p:cNvPr id="105" name="Google Shape;105;p15" descr="image.png"/>
          <p:cNvPicPr preferRelativeResize="0"/>
          <p:nvPr/>
        </p:nvPicPr>
        <p:blipFill rotWithShape="1">
          <a:blip r:embed="rId3">
            <a:alphaModFix/>
          </a:blip>
          <a:srcRect/>
          <a:stretch/>
        </p:blipFill>
        <p:spPr>
          <a:xfrm>
            <a:off x="737138" y="867325"/>
            <a:ext cx="5081201" cy="2554493"/>
          </a:xfrm>
          <a:prstGeom prst="rect">
            <a:avLst/>
          </a:prstGeom>
          <a:noFill/>
          <a:ln>
            <a:noFill/>
          </a:ln>
        </p:spPr>
      </p:pic>
      <p:pic>
        <p:nvPicPr>
          <p:cNvPr id="106" name="Google Shape;106;p15" descr="image.png"/>
          <p:cNvPicPr preferRelativeResize="0"/>
          <p:nvPr/>
        </p:nvPicPr>
        <p:blipFill rotWithShape="1">
          <a:blip r:embed="rId4">
            <a:alphaModFix/>
          </a:blip>
          <a:srcRect/>
          <a:stretch/>
        </p:blipFill>
        <p:spPr>
          <a:xfrm>
            <a:off x="6373661" y="867325"/>
            <a:ext cx="5081201" cy="2554484"/>
          </a:xfrm>
          <a:prstGeom prst="rect">
            <a:avLst/>
          </a:prstGeom>
          <a:noFill/>
          <a:ln>
            <a:noFill/>
          </a:ln>
        </p:spPr>
      </p:pic>
      <p:pic>
        <p:nvPicPr>
          <p:cNvPr id="107" name="Google Shape;107;p15" descr="image.png"/>
          <p:cNvPicPr preferRelativeResize="0"/>
          <p:nvPr/>
        </p:nvPicPr>
        <p:blipFill rotWithShape="1">
          <a:blip r:embed="rId4">
            <a:alphaModFix/>
          </a:blip>
          <a:srcRect/>
          <a:stretch/>
        </p:blipFill>
        <p:spPr>
          <a:xfrm>
            <a:off x="737138" y="3977137"/>
            <a:ext cx="5081201" cy="2554484"/>
          </a:xfrm>
          <a:prstGeom prst="rect">
            <a:avLst/>
          </a:prstGeom>
          <a:noFill/>
          <a:ln>
            <a:noFill/>
          </a:ln>
        </p:spPr>
      </p:pic>
      <p:pic>
        <p:nvPicPr>
          <p:cNvPr id="108" name="Google Shape;108;p15" descr="image.png"/>
          <p:cNvPicPr preferRelativeResize="0"/>
          <p:nvPr/>
        </p:nvPicPr>
        <p:blipFill rotWithShape="1">
          <a:blip r:embed="rId4">
            <a:alphaModFix/>
          </a:blip>
          <a:srcRect/>
          <a:stretch/>
        </p:blipFill>
        <p:spPr>
          <a:xfrm>
            <a:off x="6373661" y="3977137"/>
            <a:ext cx="5081201" cy="2554484"/>
          </a:xfrm>
          <a:prstGeom prst="rect">
            <a:avLst/>
          </a:prstGeom>
          <a:noFill/>
          <a:ln>
            <a:noFill/>
          </a:ln>
        </p:spPr>
      </p:pic>
      <p:sp>
        <p:nvSpPr>
          <p:cNvPr id="109" name="Google Shape;109;p15"/>
          <p:cNvSpPr txBox="1"/>
          <p:nvPr/>
        </p:nvSpPr>
        <p:spPr>
          <a:xfrm>
            <a:off x="581025" y="226025"/>
            <a:ext cx="1158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AFAFA"/>
                </a:solidFill>
                <a:latin typeface="Urbanist"/>
                <a:ea typeface="Urbanist"/>
                <a:cs typeface="Urbanist"/>
                <a:sym typeface="Urbanist"/>
              </a:rPr>
              <a:t>Session </a:t>
            </a:r>
            <a:r>
              <a:rPr lang="en-US" sz="3600" b="1" i="0" u="none" strike="noStrike" cap="none">
                <a:solidFill>
                  <a:srgbClr val="00B8FF"/>
                </a:solidFill>
                <a:latin typeface="Urbanist"/>
                <a:ea typeface="Urbanist"/>
                <a:cs typeface="Urbanist"/>
                <a:sym typeface="Urbanist"/>
              </a:rPr>
              <a:t>Agenda</a:t>
            </a:r>
            <a:endParaRPr/>
          </a:p>
        </p:txBody>
      </p:sp>
      <p:sp>
        <p:nvSpPr>
          <p:cNvPr id="110" name="Google Shape;110;p15"/>
          <p:cNvSpPr txBox="1"/>
          <p:nvPr/>
        </p:nvSpPr>
        <p:spPr>
          <a:xfrm>
            <a:off x="1116608" y="1246796"/>
            <a:ext cx="4538400" cy="31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40" b="0" i="0" u="none" strike="noStrike" cap="none">
                <a:solidFill>
                  <a:srgbClr val="00FF9D"/>
                </a:solidFill>
                <a:latin typeface="Urbanist SemiBold"/>
                <a:ea typeface="Urbanist SemiBold"/>
                <a:cs typeface="Urbanist SemiBold"/>
                <a:sym typeface="Urbanist SemiBold"/>
              </a:rPr>
              <a:t>01.</a:t>
            </a:r>
            <a:r>
              <a:rPr lang="en-US" sz="2040" b="0" i="0" u="none" strike="noStrike" cap="none">
                <a:solidFill>
                  <a:srgbClr val="FAFAFA"/>
                </a:solidFill>
                <a:latin typeface="Urbanist SemiBold"/>
                <a:ea typeface="Urbanist SemiBold"/>
                <a:cs typeface="Urbanist SemiBold"/>
                <a:sym typeface="Urbanist SemiBold"/>
              </a:rPr>
              <a:t> The "Why" &amp; "What"</a:t>
            </a:r>
            <a:endParaRPr sz="1360"/>
          </a:p>
        </p:txBody>
      </p:sp>
      <p:sp>
        <p:nvSpPr>
          <p:cNvPr id="111" name="Google Shape;111;p15"/>
          <p:cNvSpPr txBox="1"/>
          <p:nvPr/>
        </p:nvSpPr>
        <p:spPr>
          <a:xfrm>
            <a:off x="1116608" y="1709566"/>
            <a:ext cx="4322100" cy="1301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57" b="0" i="0" u="none" strike="noStrike" cap="none">
                <a:solidFill>
                  <a:srgbClr val="A1A1AA"/>
                </a:solidFill>
                <a:latin typeface="Urbanist"/>
                <a:ea typeface="Urbanist"/>
                <a:cs typeface="Urbanist"/>
                <a:sym typeface="Urbanist"/>
              </a:rPr>
              <a:t>We'll start by defining the massive problem with naked LLMs: Knowledge Cutoffs and Hallucinations. Then, we introduce the conceptual architecture of RAG as the definitive solution.</a:t>
            </a:r>
            <a:endParaRPr sz="1360"/>
          </a:p>
        </p:txBody>
      </p:sp>
      <p:sp>
        <p:nvSpPr>
          <p:cNvPr id="112" name="Google Shape;112;p15"/>
          <p:cNvSpPr txBox="1"/>
          <p:nvPr/>
        </p:nvSpPr>
        <p:spPr>
          <a:xfrm>
            <a:off x="6753131" y="1246796"/>
            <a:ext cx="4538400" cy="31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40" b="0" i="0" u="none" strike="noStrike" cap="none">
                <a:solidFill>
                  <a:srgbClr val="00FF9D"/>
                </a:solidFill>
                <a:latin typeface="Urbanist SemiBold"/>
                <a:ea typeface="Urbanist SemiBold"/>
                <a:cs typeface="Urbanist SemiBold"/>
                <a:sym typeface="Urbanist SemiBold"/>
              </a:rPr>
              <a:t>02.</a:t>
            </a:r>
            <a:r>
              <a:rPr lang="en-US" sz="2040" b="0" i="0" u="none" strike="noStrike" cap="none">
                <a:solidFill>
                  <a:srgbClr val="FAFAFA"/>
                </a:solidFill>
                <a:latin typeface="Urbanist SemiBold"/>
                <a:ea typeface="Urbanist SemiBold"/>
                <a:cs typeface="Urbanist SemiBold"/>
                <a:sym typeface="Urbanist SemiBold"/>
              </a:rPr>
              <a:t> Under the Hood (The Engine)</a:t>
            </a:r>
            <a:endParaRPr sz="1360"/>
          </a:p>
        </p:txBody>
      </p:sp>
      <p:sp>
        <p:nvSpPr>
          <p:cNvPr id="113" name="Google Shape;113;p15"/>
          <p:cNvSpPr txBox="1"/>
          <p:nvPr/>
        </p:nvSpPr>
        <p:spPr>
          <a:xfrm>
            <a:off x="6753131" y="1709566"/>
            <a:ext cx="4322100" cy="1301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57" b="0" i="0" u="none" strike="noStrike" cap="none">
                <a:solidFill>
                  <a:srgbClr val="A1A1AA"/>
                </a:solidFill>
                <a:latin typeface="Urbanist"/>
                <a:ea typeface="Urbanist"/>
                <a:cs typeface="Urbanist"/>
                <a:sym typeface="Urbanist"/>
              </a:rPr>
              <a:t>Deep dive into the technical mathematics. We will explore how text becomes arrays of numbers via Embeddings, and how Vector Databases perform Nearest Neighbor Search.</a:t>
            </a:r>
            <a:endParaRPr sz="1360"/>
          </a:p>
        </p:txBody>
      </p:sp>
      <p:sp>
        <p:nvSpPr>
          <p:cNvPr id="114" name="Google Shape;114;p15"/>
          <p:cNvSpPr txBox="1"/>
          <p:nvPr/>
        </p:nvSpPr>
        <p:spPr>
          <a:xfrm>
            <a:off x="1116608" y="4356608"/>
            <a:ext cx="4538400" cy="31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40" b="0" i="0" u="none" strike="noStrike" cap="none">
                <a:solidFill>
                  <a:srgbClr val="00FF9D"/>
                </a:solidFill>
                <a:latin typeface="Urbanist SemiBold"/>
                <a:ea typeface="Urbanist SemiBold"/>
                <a:cs typeface="Urbanist SemiBold"/>
                <a:sym typeface="Urbanist SemiBold"/>
              </a:rPr>
              <a:t>03.</a:t>
            </a:r>
            <a:r>
              <a:rPr lang="en-US" sz="2040" b="0" i="0" u="none" strike="noStrike" cap="none">
                <a:solidFill>
                  <a:srgbClr val="FAFAFA"/>
                </a:solidFill>
                <a:latin typeface="Urbanist SemiBold"/>
                <a:ea typeface="Urbanist SemiBold"/>
                <a:cs typeface="Urbanist SemiBold"/>
                <a:sym typeface="Urbanist SemiBold"/>
              </a:rPr>
              <a:t> Let's Build It (Hands-on)</a:t>
            </a:r>
            <a:endParaRPr sz="1360"/>
          </a:p>
        </p:txBody>
      </p:sp>
      <p:sp>
        <p:nvSpPr>
          <p:cNvPr id="115" name="Google Shape;115;p15"/>
          <p:cNvSpPr txBox="1"/>
          <p:nvPr/>
        </p:nvSpPr>
        <p:spPr>
          <a:xfrm>
            <a:off x="1116608" y="4819377"/>
            <a:ext cx="4322100" cy="1301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57" b="0" i="0" u="none" strike="noStrike" cap="none">
                <a:solidFill>
                  <a:srgbClr val="A1A1AA"/>
                </a:solidFill>
                <a:latin typeface="Urbanist"/>
                <a:ea typeface="Urbanist"/>
                <a:cs typeface="Urbanist"/>
                <a:sym typeface="Urbanist"/>
              </a:rPr>
              <a:t>Theory is nothing without execution. We will open Google Colab and build a functional RAG pipeline using LangChain, ChromaDB, and an LLM step-by-step.</a:t>
            </a:r>
            <a:endParaRPr sz="1360"/>
          </a:p>
        </p:txBody>
      </p:sp>
      <p:sp>
        <p:nvSpPr>
          <p:cNvPr id="116" name="Google Shape;116;p15"/>
          <p:cNvSpPr txBox="1"/>
          <p:nvPr/>
        </p:nvSpPr>
        <p:spPr>
          <a:xfrm>
            <a:off x="6753131" y="4356608"/>
            <a:ext cx="4538400" cy="31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40" b="0" i="0" u="none" strike="noStrike" cap="none">
                <a:solidFill>
                  <a:srgbClr val="00FF9D"/>
                </a:solidFill>
                <a:latin typeface="Urbanist SemiBold"/>
                <a:ea typeface="Urbanist SemiBold"/>
                <a:cs typeface="Urbanist SemiBold"/>
                <a:sym typeface="Urbanist SemiBold"/>
              </a:rPr>
              <a:t>04.</a:t>
            </a:r>
            <a:r>
              <a:rPr lang="en-US" sz="2040" b="0" i="0" u="none" strike="noStrike" cap="none">
                <a:solidFill>
                  <a:srgbClr val="FAFAFA"/>
                </a:solidFill>
                <a:latin typeface="Urbanist SemiBold"/>
                <a:ea typeface="Urbanist SemiBold"/>
                <a:cs typeface="Urbanist SemiBold"/>
                <a:sym typeface="Urbanist SemiBold"/>
              </a:rPr>
              <a:t> Production Engineering</a:t>
            </a:r>
            <a:endParaRPr sz="1360"/>
          </a:p>
        </p:txBody>
      </p:sp>
      <p:sp>
        <p:nvSpPr>
          <p:cNvPr id="117" name="Google Shape;117;p15"/>
          <p:cNvSpPr txBox="1"/>
          <p:nvPr/>
        </p:nvSpPr>
        <p:spPr>
          <a:xfrm>
            <a:off x="6753131" y="4819377"/>
            <a:ext cx="4322100" cy="1301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57" b="0" i="0" u="none" strike="noStrike" cap="none">
                <a:solidFill>
                  <a:srgbClr val="A1A1AA"/>
                </a:solidFill>
                <a:latin typeface="Urbanist"/>
                <a:ea typeface="Urbanist"/>
                <a:cs typeface="Urbanist"/>
                <a:sym typeface="Urbanist"/>
              </a:rPr>
              <a:t>The Applied Engineer's Perspective. Building a basic tutorial RAG is easy; scaling it to production is hard. We'll briefly cover Hybrid Search, Reranking, and Evaluation.</a:t>
            </a:r>
            <a:endParaRPr sz="136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121"/>
        <p:cNvGrpSpPr/>
        <p:nvPr/>
      </p:nvGrpSpPr>
      <p:grpSpPr>
        <a:xfrm>
          <a:off x="0" y="0"/>
          <a:ext cx="0" cy="0"/>
          <a:chOff x="0" y="0"/>
          <a:chExt cx="0" cy="0"/>
        </a:xfrm>
      </p:grpSpPr>
      <p:sp>
        <p:nvSpPr>
          <p:cNvPr id="122" name="Google Shape;122;p16"/>
          <p:cNvSpPr txBox="1"/>
          <p:nvPr/>
        </p:nvSpPr>
        <p:spPr>
          <a:xfrm>
            <a:off x="581025" y="581025"/>
            <a:ext cx="5490686" cy="1104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AFAFA"/>
                </a:solidFill>
                <a:latin typeface="Urbanist"/>
                <a:ea typeface="Urbanist"/>
                <a:cs typeface="Urbanist"/>
                <a:sym typeface="Urbanist"/>
              </a:rPr>
              <a:t>The </a:t>
            </a:r>
            <a:r>
              <a:rPr lang="en-US" sz="3600" b="1" i="0" u="none" strike="noStrike" cap="none">
                <a:solidFill>
                  <a:srgbClr val="00FF9D"/>
                </a:solidFill>
                <a:latin typeface="Urbanist"/>
                <a:ea typeface="Urbanist"/>
                <a:cs typeface="Urbanist"/>
                <a:sym typeface="Urbanist"/>
              </a:rPr>
              <a:t>Hallucination</a:t>
            </a:r>
            <a:r>
              <a:rPr lang="en-US" sz="3600" b="1" i="0" u="none" strike="noStrike" cap="none">
                <a:solidFill>
                  <a:srgbClr val="FAFAFA"/>
                </a:solidFill>
                <a:latin typeface="Urbanist"/>
                <a:ea typeface="Urbanist"/>
                <a:cs typeface="Urbanist"/>
                <a:sym typeface="Urbanist"/>
              </a:rPr>
              <a:t> Problem</a:t>
            </a:r>
            <a:endParaRPr/>
          </a:p>
        </p:txBody>
      </p:sp>
      <p:pic>
        <p:nvPicPr>
          <p:cNvPr id="123" name="Google Shape;123;p16" descr="image.png"/>
          <p:cNvPicPr preferRelativeResize="0"/>
          <p:nvPr/>
        </p:nvPicPr>
        <p:blipFill rotWithShape="1">
          <a:blip r:embed="rId3">
            <a:alphaModFix/>
          </a:blip>
          <a:srcRect/>
          <a:stretch/>
        </p:blipFill>
        <p:spPr>
          <a:xfrm>
            <a:off x="6381750" y="9525"/>
            <a:ext cx="5800725" cy="6858000"/>
          </a:xfrm>
          <a:prstGeom prst="rect">
            <a:avLst/>
          </a:prstGeom>
          <a:noFill/>
          <a:ln>
            <a:noFill/>
          </a:ln>
        </p:spPr>
      </p:pic>
      <p:sp>
        <p:nvSpPr>
          <p:cNvPr id="124" name="Google Shape;124;p16"/>
          <p:cNvSpPr txBox="1"/>
          <p:nvPr/>
        </p:nvSpPr>
        <p:spPr>
          <a:xfrm>
            <a:off x="581025" y="2066925"/>
            <a:ext cx="5490686"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FAFAFA"/>
                </a:solidFill>
                <a:latin typeface="Urbanist SemiBold"/>
                <a:ea typeface="Urbanist SemiBold"/>
                <a:cs typeface="Urbanist SemiBold"/>
                <a:sym typeface="Urbanist SemiBold"/>
              </a:rPr>
              <a:t>"Who here has had ChatGPT confidently lie to them?"</a:t>
            </a:r>
            <a:endParaRPr/>
          </a:p>
        </p:txBody>
      </p:sp>
      <p:sp>
        <p:nvSpPr>
          <p:cNvPr id="125" name="Google Shape;125;p16"/>
          <p:cNvSpPr txBox="1"/>
          <p:nvPr/>
        </p:nvSpPr>
        <p:spPr>
          <a:xfrm>
            <a:off x="581025" y="2867025"/>
            <a:ext cx="52292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Naked Large Language Models suffer from two critical flaws when deployed in real-world enterprise environments:</a:t>
            </a:r>
            <a:endParaRPr/>
          </a:p>
        </p:txBody>
      </p:sp>
      <p:sp>
        <p:nvSpPr>
          <p:cNvPr id="126" name="Google Shape;126;p16"/>
          <p:cNvSpPr txBox="1"/>
          <p:nvPr/>
        </p:nvSpPr>
        <p:spPr>
          <a:xfrm>
            <a:off x="581025" y="3819525"/>
            <a:ext cx="5229225" cy="128007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FAFAFA"/>
                </a:solidFill>
                <a:latin typeface="Urbanist"/>
                <a:ea typeface="Urbanist"/>
                <a:cs typeface="Urbanist"/>
                <a:sym typeface="Urbanist"/>
              </a:rPr>
              <a:t>1. The Knowledge Cutoff</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A1A1AA"/>
                </a:solidFill>
                <a:latin typeface="Urbanist"/>
                <a:ea typeface="Urbanist"/>
                <a:cs typeface="Urbanist"/>
                <a:sym typeface="Urbanist"/>
              </a:rPr>
              <a:t> Models only know what they were trained on. They cannot access recent events, internal company documents, or private codebases.</a:t>
            </a:r>
            <a:endParaRPr/>
          </a:p>
        </p:txBody>
      </p:sp>
      <p:sp>
        <p:nvSpPr>
          <p:cNvPr id="127" name="Google Shape;127;p16"/>
          <p:cNvSpPr txBox="1"/>
          <p:nvPr/>
        </p:nvSpPr>
        <p:spPr>
          <a:xfrm>
            <a:off x="581025" y="5251995"/>
            <a:ext cx="5229225" cy="128007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FAFAFA"/>
                </a:solidFill>
                <a:latin typeface="Urbanist"/>
                <a:ea typeface="Urbanist"/>
                <a:cs typeface="Urbanist"/>
                <a:sym typeface="Urbanist"/>
              </a:rPr>
              <a:t>2. Hallucinations</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A1A1AA"/>
                </a:solidFill>
                <a:latin typeface="Urbanist"/>
                <a:ea typeface="Urbanist"/>
                <a:cs typeface="Urbanist"/>
                <a:sym typeface="Urbanist"/>
              </a:rPr>
              <a:t> When an LLM doesn't know an answer, its predictive nature forces it to guess, often presenting false information with absolute grammatical confidence.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131"/>
        <p:cNvGrpSpPr/>
        <p:nvPr/>
      </p:nvGrpSpPr>
      <p:grpSpPr>
        <a:xfrm>
          <a:off x="0" y="0"/>
          <a:ext cx="0" cy="0"/>
          <a:chOff x="0" y="0"/>
          <a:chExt cx="0" cy="0"/>
        </a:xfrm>
      </p:grpSpPr>
      <p:pic>
        <p:nvPicPr>
          <p:cNvPr id="132" name="Google Shape;132;p17" descr="image.png"/>
          <p:cNvPicPr preferRelativeResize="0"/>
          <p:nvPr/>
        </p:nvPicPr>
        <p:blipFill rotWithShape="1">
          <a:blip r:embed="rId3">
            <a:alphaModFix/>
          </a:blip>
          <a:srcRect/>
          <a:stretch/>
        </p:blipFill>
        <p:spPr>
          <a:xfrm>
            <a:off x="581025" y="1514475"/>
            <a:ext cx="5229225" cy="5010150"/>
          </a:xfrm>
          <a:prstGeom prst="rect">
            <a:avLst/>
          </a:prstGeom>
          <a:noFill/>
          <a:ln>
            <a:noFill/>
          </a:ln>
        </p:spPr>
      </p:pic>
      <p:pic>
        <p:nvPicPr>
          <p:cNvPr id="133" name="Google Shape;133;p17" descr="image.png"/>
          <p:cNvPicPr preferRelativeResize="0"/>
          <p:nvPr/>
        </p:nvPicPr>
        <p:blipFill rotWithShape="1">
          <a:blip r:embed="rId4">
            <a:alphaModFix/>
          </a:blip>
          <a:srcRect/>
          <a:stretch/>
        </p:blipFill>
        <p:spPr>
          <a:xfrm>
            <a:off x="7091362" y="2114550"/>
            <a:ext cx="3810000" cy="3810000"/>
          </a:xfrm>
          <a:prstGeom prst="rect">
            <a:avLst/>
          </a:prstGeom>
          <a:noFill/>
          <a:ln>
            <a:noFill/>
          </a:ln>
        </p:spPr>
      </p:pic>
      <p:sp>
        <p:nvSpPr>
          <p:cNvPr id="134" name="Google Shape;134;p17"/>
          <p:cNvSpPr txBox="1"/>
          <p:nvPr/>
        </p:nvSpPr>
        <p:spPr>
          <a:xfrm>
            <a:off x="581025" y="581025"/>
            <a:ext cx="11581447"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AFAFA"/>
                </a:solidFill>
                <a:latin typeface="Urbanist"/>
                <a:ea typeface="Urbanist"/>
                <a:cs typeface="Urbanist"/>
                <a:sym typeface="Urbanist"/>
              </a:rPr>
              <a:t>Solving the Problem: </a:t>
            </a:r>
            <a:r>
              <a:rPr lang="en-US" sz="3600" b="1" i="0" u="none" strike="noStrike" cap="none">
                <a:solidFill>
                  <a:srgbClr val="00B8FF"/>
                </a:solidFill>
                <a:latin typeface="Urbanist"/>
                <a:ea typeface="Urbanist"/>
                <a:cs typeface="Urbanist"/>
                <a:sym typeface="Urbanist"/>
              </a:rPr>
              <a:t>Two Approaches</a:t>
            </a:r>
            <a:endParaRPr/>
          </a:p>
        </p:txBody>
      </p:sp>
      <p:sp>
        <p:nvSpPr>
          <p:cNvPr id="135" name="Google Shape;135;p17"/>
          <p:cNvSpPr txBox="1"/>
          <p:nvPr/>
        </p:nvSpPr>
        <p:spPr>
          <a:xfrm>
            <a:off x="971550" y="1905000"/>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FAFAFA"/>
                </a:solidFill>
                <a:latin typeface="Urbanist SemiBold"/>
                <a:ea typeface="Urbanist SemiBold"/>
                <a:cs typeface="Urbanist SemiBold"/>
                <a:sym typeface="Urbanist SemiBold"/>
              </a:rPr>
              <a:t>Fine-Tuning = Studying for an Exam</a:t>
            </a:r>
            <a:endParaRPr/>
          </a:p>
        </p:txBody>
      </p:sp>
      <p:sp>
        <p:nvSpPr>
          <p:cNvPr id="136" name="Google Shape;136;p17"/>
          <p:cNvSpPr txBox="1"/>
          <p:nvPr/>
        </p:nvSpPr>
        <p:spPr>
          <a:xfrm>
            <a:off x="971550" y="2381250"/>
            <a:ext cx="444817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Updating the model's internal weights. It is highly expensive, requires massive computational power, is slow to iterate, and models suffer from </a:t>
            </a:r>
            <a:r>
              <a:rPr lang="en-US" sz="1500" b="0" i="1" u="none" strike="noStrike" cap="none">
                <a:solidFill>
                  <a:srgbClr val="A1A1AA"/>
                </a:solidFill>
                <a:latin typeface="Urbanist"/>
                <a:ea typeface="Urbanist"/>
                <a:cs typeface="Urbanist"/>
                <a:sym typeface="Urbanist"/>
              </a:rPr>
              <a:t>catastrophic forgetting</a:t>
            </a:r>
            <a:r>
              <a:rPr lang="en-US" sz="1500" b="0" i="0" u="none" strike="noStrike" cap="none">
                <a:solidFill>
                  <a:srgbClr val="A1A1AA"/>
                </a:solidFill>
                <a:latin typeface="Urbanist"/>
                <a:ea typeface="Urbanist"/>
                <a:cs typeface="Urbanist"/>
                <a:sym typeface="Urbanist"/>
              </a:rPr>
              <a:t> (learning new things erases old things).</a:t>
            </a:r>
            <a:endParaRPr/>
          </a:p>
        </p:txBody>
      </p:sp>
      <p:sp>
        <p:nvSpPr>
          <p:cNvPr id="137" name="Google Shape;137;p17"/>
          <p:cNvSpPr txBox="1"/>
          <p:nvPr/>
        </p:nvSpPr>
        <p:spPr>
          <a:xfrm>
            <a:off x="971550" y="3981450"/>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0FF9D"/>
                </a:solidFill>
                <a:latin typeface="Urbanist SemiBold"/>
                <a:ea typeface="Urbanist SemiBold"/>
                <a:cs typeface="Urbanist SemiBold"/>
                <a:sym typeface="Urbanist SemiBold"/>
              </a:rPr>
              <a:t>RAG = The Open-Book Exam</a:t>
            </a:r>
            <a:endParaRPr/>
          </a:p>
        </p:txBody>
      </p:sp>
      <p:sp>
        <p:nvSpPr>
          <p:cNvPr id="138" name="Google Shape;138;p17"/>
          <p:cNvSpPr txBox="1"/>
          <p:nvPr/>
        </p:nvSpPr>
        <p:spPr>
          <a:xfrm>
            <a:off x="971550" y="4457700"/>
            <a:ext cx="4448175"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Retrieval-Augmented Generation allows the model to search a database for the exact right paragraph, read it, and formulate an answer. It is cheap, fast, and deterministic. You just update the database, not the model.</a:t>
            </a:r>
            <a:endParaRPr/>
          </a:p>
        </p:txBody>
      </p:sp>
      <p:pic>
        <p:nvPicPr>
          <p:cNvPr id="139" name="Google Shape;139;p17" descr="image.png"/>
          <p:cNvPicPr preferRelativeResize="0"/>
          <p:nvPr/>
        </p:nvPicPr>
        <p:blipFill rotWithShape="1">
          <a:blip r:embed="rId5">
            <a:alphaModFix/>
          </a:blip>
          <a:srcRect/>
          <a:stretch/>
        </p:blipFill>
        <p:spPr>
          <a:xfrm>
            <a:off x="7129462" y="2152650"/>
            <a:ext cx="3733800" cy="3733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143"/>
        <p:cNvGrpSpPr/>
        <p:nvPr/>
      </p:nvGrpSpPr>
      <p:grpSpPr>
        <a:xfrm>
          <a:off x="0" y="0"/>
          <a:ext cx="0" cy="0"/>
          <a:chOff x="0" y="0"/>
          <a:chExt cx="0" cy="0"/>
        </a:xfrm>
      </p:grpSpPr>
      <p:pic>
        <p:nvPicPr>
          <p:cNvPr id="144" name="Google Shape;144;p18" descr="image.png"/>
          <p:cNvPicPr preferRelativeResize="0"/>
          <p:nvPr/>
        </p:nvPicPr>
        <p:blipFill rotWithShape="1">
          <a:blip r:embed="rId3">
            <a:alphaModFix/>
          </a:blip>
          <a:srcRect/>
          <a:stretch/>
        </p:blipFill>
        <p:spPr>
          <a:xfrm>
            <a:off x="581025" y="1514475"/>
            <a:ext cx="3422600" cy="4838700"/>
          </a:xfrm>
          <a:prstGeom prst="rect">
            <a:avLst/>
          </a:prstGeom>
          <a:noFill/>
          <a:ln>
            <a:noFill/>
          </a:ln>
        </p:spPr>
      </p:pic>
      <p:pic>
        <p:nvPicPr>
          <p:cNvPr id="145" name="Google Shape;145;p18" descr="image.png"/>
          <p:cNvPicPr preferRelativeResize="0"/>
          <p:nvPr/>
        </p:nvPicPr>
        <p:blipFill rotWithShape="1">
          <a:blip r:embed="rId3">
            <a:alphaModFix/>
          </a:blip>
          <a:srcRect/>
          <a:stretch/>
        </p:blipFill>
        <p:spPr>
          <a:xfrm>
            <a:off x="4384625" y="1514475"/>
            <a:ext cx="3422600" cy="4838700"/>
          </a:xfrm>
          <a:prstGeom prst="rect">
            <a:avLst/>
          </a:prstGeom>
          <a:noFill/>
          <a:ln>
            <a:noFill/>
          </a:ln>
        </p:spPr>
      </p:pic>
      <p:pic>
        <p:nvPicPr>
          <p:cNvPr id="146" name="Google Shape;146;p18" descr="image.png"/>
          <p:cNvPicPr preferRelativeResize="0"/>
          <p:nvPr/>
        </p:nvPicPr>
        <p:blipFill rotWithShape="1">
          <a:blip r:embed="rId4">
            <a:alphaModFix/>
          </a:blip>
          <a:srcRect/>
          <a:stretch/>
        </p:blipFill>
        <p:spPr>
          <a:xfrm>
            <a:off x="8188225" y="1514475"/>
            <a:ext cx="3422600" cy="4838700"/>
          </a:xfrm>
          <a:prstGeom prst="rect">
            <a:avLst/>
          </a:prstGeom>
          <a:noFill/>
          <a:ln>
            <a:noFill/>
          </a:ln>
        </p:spPr>
      </p:pic>
      <p:sp>
        <p:nvSpPr>
          <p:cNvPr id="147" name="Google Shape;147;p18"/>
          <p:cNvSpPr txBox="1"/>
          <p:nvPr/>
        </p:nvSpPr>
        <p:spPr>
          <a:xfrm>
            <a:off x="581025" y="581025"/>
            <a:ext cx="11581447"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AFAFA"/>
                </a:solidFill>
                <a:latin typeface="Urbanist"/>
                <a:ea typeface="Urbanist"/>
                <a:cs typeface="Urbanist"/>
                <a:sym typeface="Urbanist"/>
              </a:rPr>
              <a:t>The Core </a:t>
            </a:r>
            <a:r>
              <a:rPr lang="en-US" sz="3600" b="1" i="0" u="none" strike="noStrike" cap="none">
                <a:solidFill>
                  <a:srgbClr val="00FF9D"/>
                </a:solidFill>
                <a:latin typeface="Urbanist"/>
                <a:ea typeface="Urbanist"/>
                <a:cs typeface="Urbanist"/>
                <a:sym typeface="Urbanist"/>
              </a:rPr>
              <a:t>Architecture</a:t>
            </a:r>
            <a:endParaRPr/>
          </a:p>
        </p:txBody>
      </p:sp>
      <p:pic>
        <p:nvPicPr>
          <p:cNvPr id="148" name="Google Shape;148;p18" descr="image.png"/>
          <p:cNvPicPr preferRelativeResize="0"/>
          <p:nvPr/>
        </p:nvPicPr>
        <p:blipFill rotWithShape="1">
          <a:blip r:embed="rId5">
            <a:alphaModFix/>
          </a:blip>
          <a:srcRect/>
          <a:stretch/>
        </p:blipFill>
        <p:spPr>
          <a:xfrm>
            <a:off x="1911250" y="1905000"/>
            <a:ext cx="762000" cy="762000"/>
          </a:xfrm>
          <a:prstGeom prst="rect">
            <a:avLst/>
          </a:prstGeom>
          <a:noFill/>
          <a:ln>
            <a:noFill/>
          </a:ln>
        </p:spPr>
      </p:pic>
      <p:sp>
        <p:nvSpPr>
          <p:cNvPr id="149" name="Google Shape;149;p18"/>
          <p:cNvSpPr txBox="1"/>
          <p:nvPr/>
        </p:nvSpPr>
        <p:spPr>
          <a:xfrm>
            <a:off x="1612165" y="2895600"/>
            <a:ext cx="136017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AFAFA"/>
                </a:solidFill>
                <a:latin typeface="Urbanist SemiBold"/>
                <a:ea typeface="Urbanist SemiBold"/>
                <a:cs typeface="Urbanist SemiBold"/>
                <a:sym typeface="Urbanist SemiBold"/>
              </a:rPr>
              <a:t>1. Ingestion</a:t>
            </a:r>
            <a:endParaRPr/>
          </a:p>
        </p:txBody>
      </p:sp>
      <p:sp>
        <p:nvSpPr>
          <p:cNvPr id="150" name="Google Shape;150;p18"/>
          <p:cNvSpPr txBox="1"/>
          <p:nvPr/>
        </p:nvSpPr>
        <p:spPr>
          <a:xfrm>
            <a:off x="858425" y="3448050"/>
            <a:ext cx="2754600" cy="20781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We take raw PDFs, code, or databases, split them into smaller , convert those chunks into mathematical vectors (Embeddings), and store them in a specialized Vector Database.</a:t>
            </a:r>
            <a:endParaRPr/>
          </a:p>
        </p:txBody>
      </p:sp>
      <p:pic>
        <p:nvPicPr>
          <p:cNvPr id="151" name="Google Shape;151;p18" descr="image.png"/>
          <p:cNvPicPr preferRelativeResize="0"/>
          <p:nvPr/>
        </p:nvPicPr>
        <p:blipFill rotWithShape="1">
          <a:blip r:embed="rId6">
            <a:alphaModFix/>
          </a:blip>
          <a:srcRect/>
          <a:stretch/>
        </p:blipFill>
        <p:spPr>
          <a:xfrm>
            <a:off x="5714851" y="1905000"/>
            <a:ext cx="762000" cy="762000"/>
          </a:xfrm>
          <a:prstGeom prst="rect">
            <a:avLst/>
          </a:prstGeom>
          <a:noFill/>
          <a:ln>
            <a:noFill/>
          </a:ln>
        </p:spPr>
      </p:pic>
      <p:sp>
        <p:nvSpPr>
          <p:cNvPr id="152" name="Google Shape;152;p18"/>
          <p:cNvSpPr txBox="1"/>
          <p:nvPr/>
        </p:nvSpPr>
        <p:spPr>
          <a:xfrm>
            <a:off x="5390763" y="2895600"/>
            <a:ext cx="1410176"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AFAFA"/>
                </a:solidFill>
                <a:latin typeface="Urbanist SemiBold"/>
                <a:ea typeface="Urbanist SemiBold"/>
                <a:cs typeface="Urbanist SemiBold"/>
                <a:sym typeface="Urbanist SemiBold"/>
              </a:rPr>
              <a:t>2. Retrieval</a:t>
            </a:r>
            <a:endParaRPr/>
          </a:p>
        </p:txBody>
      </p:sp>
      <p:sp>
        <p:nvSpPr>
          <p:cNvPr id="153" name="Google Shape;153;p18"/>
          <p:cNvSpPr txBox="1"/>
          <p:nvPr/>
        </p:nvSpPr>
        <p:spPr>
          <a:xfrm>
            <a:off x="4775150" y="3371850"/>
            <a:ext cx="2641550" cy="2133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When a user asks a question, we convert the question into a vector. We then perform a Similarity Search in the database to find the Top K most mathematically relevant text chunks.</a:t>
            </a:r>
            <a:endParaRPr/>
          </a:p>
        </p:txBody>
      </p:sp>
      <p:pic>
        <p:nvPicPr>
          <p:cNvPr id="154" name="Google Shape;154;p18" descr="image.png"/>
          <p:cNvPicPr preferRelativeResize="0"/>
          <p:nvPr/>
        </p:nvPicPr>
        <p:blipFill rotWithShape="1">
          <a:blip r:embed="rId7">
            <a:alphaModFix/>
          </a:blip>
          <a:srcRect/>
          <a:stretch/>
        </p:blipFill>
        <p:spPr>
          <a:xfrm>
            <a:off x="9518451" y="1905000"/>
            <a:ext cx="762000" cy="762000"/>
          </a:xfrm>
          <a:prstGeom prst="rect">
            <a:avLst/>
          </a:prstGeom>
          <a:noFill/>
          <a:ln>
            <a:noFill/>
          </a:ln>
        </p:spPr>
      </p:pic>
      <p:sp>
        <p:nvSpPr>
          <p:cNvPr id="155" name="Google Shape;155;p18"/>
          <p:cNvSpPr txBox="1"/>
          <p:nvPr/>
        </p:nvSpPr>
        <p:spPr>
          <a:xfrm>
            <a:off x="9049345" y="2895600"/>
            <a:ext cx="1700212"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AFAFA"/>
                </a:solidFill>
                <a:latin typeface="Urbanist SemiBold"/>
                <a:ea typeface="Urbanist SemiBold"/>
                <a:cs typeface="Urbanist SemiBold"/>
                <a:sym typeface="Urbanist SemiBold"/>
              </a:rPr>
              <a:t>3. Generation</a:t>
            </a:r>
            <a:endParaRPr/>
          </a:p>
        </p:txBody>
      </p:sp>
      <p:sp>
        <p:nvSpPr>
          <p:cNvPr id="156" name="Google Shape;156;p18"/>
          <p:cNvSpPr txBox="1"/>
          <p:nvPr/>
        </p:nvSpPr>
        <p:spPr>
          <a:xfrm>
            <a:off x="8578750" y="3371850"/>
            <a:ext cx="2641550" cy="1828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We combine the original user question with the retrieved chunks into a strict prompt. We send this to the LLM (e.g., Llama 3, GPT-4) to generate a factual, grounded answer.</a:t>
            </a:r>
            <a:endParaRPr/>
          </a:p>
        </p:txBody>
      </p:sp>
      <p:pic>
        <p:nvPicPr>
          <p:cNvPr id="157" name="Google Shape;157;p18" descr="image.png"/>
          <p:cNvPicPr preferRelativeResize="0"/>
          <p:nvPr/>
        </p:nvPicPr>
        <p:blipFill rotWithShape="1">
          <a:blip r:embed="rId8">
            <a:alphaModFix/>
          </a:blip>
          <a:srcRect/>
          <a:stretch/>
        </p:blipFill>
        <p:spPr>
          <a:xfrm>
            <a:off x="2139850" y="2133600"/>
            <a:ext cx="304800" cy="304800"/>
          </a:xfrm>
          <a:prstGeom prst="rect">
            <a:avLst/>
          </a:prstGeom>
          <a:noFill/>
          <a:ln>
            <a:noFill/>
          </a:ln>
        </p:spPr>
      </p:pic>
      <p:pic>
        <p:nvPicPr>
          <p:cNvPr id="158" name="Google Shape;158;p18" descr="image.png"/>
          <p:cNvPicPr preferRelativeResize="0"/>
          <p:nvPr/>
        </p:nvPicPr>
        <p:blipFill rotWithShape="1">
          <a:blip r:embed="rId9">
            <a:alphaModFix/>
          </a:blip>
          <a:srcRect/>
          <a:stretch/>
        </p:blipFill>
        <p:spPr>
          <a:xfrm>
            <a:off x="1911313" y="5754750"/>
            <a:ext cx="762000" cy="276225"/>
          </a:xfrm>
          <a:prstGeom prst="rect">
            <a:avLst/>
          </a:prstGeom>
          <a:noFill/>
          <a:ln>
            <a:noFill/>
          </a:ln>
        </p:spPr>
      </p:pic>
      <p:pic>
        <p:nvPicPr>
          <p:cNvPr id="159" name="Google Shape;159;p18" descr="image.png"/>
          <p:cNvPicPr preferRelativeResize="0"/>
          <p:nvPr/>
        </p:nvPicPr>
        <p:blipFill rotWithShape="1">
          <a:blip r:embed="rId10">
            <a:alphaModFix/>
          </a:blip>
          <a:srcRect/>
          <a:stretch/>
        </p:blipFill>
        <p:spPr>
          <a:xfrm>
            <a:off x="5943451" y="2133600"/>
            <a:ext cx="304800" cy="304800"/>
          </a:xfrm>
          <a:prstGeom prst="rect">
            <a:avLst/>
          </a:prstGeom>
          <a:noFill/>
          <a:ln>
            <a:noFill/>
          </a:ln>
        </p:spPr>
      </p:pic>
      <p:pic>
        <p:nvPicPr>
          <p:cNvPr id="160" name="Google Shape;160;p18" descr="image.png"/>
          <p:cNvPicPr preferRelativeResize="0"/>
          <p:nvPr/>
        </p:nvPicPr>
        <p:blipFill rotWithShape="1">
          <a:blip r:embed="rId11">
            <a:alphaModFix/>
          </a:blip>
          <a:srcRect/>
          <a:stretch/>
        </p:blipFill>
        <p:spPr>
          <a:xfrm>
            <a:off x="9747051" y="2133600"/>
            <a:ext cx="304800" cy="304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164"/>
        <p:cNvGrpSpPr/>
        <p:nvPr/>
      </p:nvGrpSpPr>
      <p:grpSpPr>
        <a:xfrm>
          <a:off x="0" y="0"/>
          <a:ext cx="0" cy="0"/>
          <a:chOff x="0" y="0"/>
          <a:chExt cx="0" cy="0"/>
        </a:xfrm>
      </p:grpSpPr>
      <p:pic>
        <p:nvPicPr>
          <p:cNvPr id="165" name="Google Shape;165;p19" descr="image.png"/>
          <p:cNvPicPr preferRelativeResize="0"/>
          <p:nvPr/>
        </p:nvPicPr>
        <p:blipFill rotWithShape="1">
          <a:blip r:embed="rId3">
            <a:alphaModFix/>
          </a:blip>
          <a:srcRect/>
          <a:stretch/>
        </p:blipFill>
        <p:spPr>
          <a:xfrm>
            <a:off x="5715000" y="3255615"/>
            <a:ext cx="762000" cy="57150"/>
          </a:xfrm>
          <a:prstGeom prst="rect">
            <a:avLst/>
          </a:prstGeom>
          <a:noFill/>
          <a:ln>
            <a:noFill/>
          </a:ln>
        </p:spPr>
      </p:pic>
      <p:sp>
        <p:nvSpPr>
          <p:cNvPr id="166" name="Google Shape;166;p19"/>
          <p:cNvSpPr txBox="1"/>
          <p:nvPr/>
        </p:nvSpPr>
        <p:spPr>
          <a:xfrm>
            <a:off x="2285992" y="1295915"/>
            <a:ext cx="7721100" cy="1847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0B8FF"/>
                </a:solidFill>
                <a:latin typeface="Urbanist"/>
                <a:ea typeface="Urbanist"/>
                <a:cs typeface="Urbanist"/>
                <a:sym typeface="Urbanist"/>
              </a:rPr>
              <a:t>Part 2: Under the Hood</a:t>
            </a:r>
            <a:endParaRPr/>
          </a:p>
        </p:txBody>
      </p:sp>
      <p:sp>
        <p:nvSpPr>
          <p:cNvPr id="167" name="Google Shape;167;p19"/>
          <p:cNvSpPr txBox="1"/>
          <p:nvPr/>
        </p:nvSpPr>
        <p:spPr>
          <a:xfrm>
            <a:off x="2286000" y="3693765"/>
            <a:ext cx="7620000" cy="128007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A1A1AA"/>
                </a:solidFill>
                <a:latin typeface="Urbanist"/>
                <a:ea typeface="Urbanist"/>
                <a:cs typeface="Urbanist"/>
                <a:sym typeface="Urbanist"/>
              </a:rPr>
              <a:t>Moving past the high-level concepts into the deep technical engineering. How do machines actually "understand" semantic meaning?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171"/>
        <p:cNvGrpSpPr/>
        <p:nvPr/>
      </p:nvGrpSpPr>
      <p:grpSpPr>
        <a:xfrm>
          <a:off x="0" y="0"/>
          <a:ext cx="0" cy="0"/>
          <a:chOff x="0" y="0"/>
          <a:chExt cx="0" cy="0"/>
        </a:xfrm>
      </p:grpSpPr>
      <p:pic>
        <p:nvPicPr>
          <p:cNvPr id="172" name="Google Shape;172;p20" descr="image.png"/>
          <p:cNvPicPr preferRelativeResize="0"/>
          <p:nvPr/>
        </p:nvPicPr>
        <p:blipFill rotWithShape="1">
          <a:blip r:embed="rId3">
            <a:alphaModFix/>
          </a:blip>
          <a:srcRect/>
          <a:stretch/>
        </p:blipFill>
        <p:spPr>
          <a:xfrm>
            <a:off x="581025" y="4238625"/>
            <a:ext cx="3849141" cy="552450"/>
          </a:xfrm>
          <a:prstGeom prst="rect">
            <a:avLst/>
          </a:prstGeom>
          <a:noFill/>
          <a:ln>
            <a:noFill/>
          </a:ln>
        </p:spPr>
      </p:pic>
      <p:pic>
        <p:nvPicPr>
          <p:cNvPr id="173" name="Google Shape;173;p20" descr="image.png"/>
          <p:cNvPicPr preferRelativeResize="0"/>
          <p:nvPr/>
        </p:nvPicPr>
        <p:blipFill rotWithShape="1">
          <a:blip r:embed="rId4">
            <a:alphaModFix/>
          </a:blip>
          <a:srcRect/>
          <a:stretch/>
        </p:blipFill>
        <p:spPr>
          <a:xfrm>
            <a:off x="6381750" y="1990725"/>
            <a:ext cx="5229225" cy="3810000"/>
          </a:xfrm>
          <a:prstGeom prst="rect">
            <a:avLst/>
          </a:prstGeom>
          <a:noFill/>
          <a:ln>
            <a:noFill/>
          </a:ln>
        </p:spPr>
      </p:pic>
      <p:sp>
        <p:nvSpPr>
          <p:cNvPr id="174" name="Google Shape;174;p20"/>
          <p:cNvSpPr txBox="1"/>
          <p:nvPr/>
        </p:nvSpPr>
        <p:spPr>
          <a:xfrm>
            <a:off x="581025" y="581025"/>
            <a:ext cx="11581447"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AFAFA"/>
                </a:solidFill>
                <a:latin typeface="Urbanist"/>
                <a:ea typeface="Urbanist"/>
                <a:cs typeface="Urbanist"/>
                <a:sym typeface="Urbanist"/>
              </a:rPr>
              <a:t>Understanding </a:t>
            </a:r>
            <a:r>
              <a:rPr lang="en-US" sz="3600" b="1" i="0" u="none" strike="noStrike" cap="none">
                <a:solidFill>
                  <a:srgbClr val="00FF9D"/>
                </a:solidFill>
                <a:latin typeface="Urbanist"/>
                <a:ea typeface="Urbanist"/>
                <a:cs typeface="Urbanist"/>
                <a:sym typeface="Urbanist"/>
              </a:rPr>
              <a:t>Embeddings</a:t>
            </a:r>
            <a:endParaRPr/>
          </a:p>
        </p:txBody>
      </p:sp>
      <p:sp>
        <p:nvSpPr>
          <p:cNvPr id="175" name="Google Shape;175;p20"/>
          <p:cNvSpPr txBox="1"/>
          <p:nvPr/>
        </p:nvSpPr>
        <p:spPr>
          <a:xfrm>
            <a:off x="581025" y="2009775"/>
            <a:ext cx="52292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Computers cannot read text; they only understand numbers. An embedding is a translation of text semantics into a high-dimensional array (vector) of floating-point numbers.</a:t>
            </a:r>
            <a:endParaRPr/>
          </a:p>
        </p:txBody>
      </p:sp>
      <p:sp>
        <p:nvSpPr>
          <p:cNvPr id="176" name="Google Shape;176;p20"/>
          <p:cNvSpPr txBox="1"/>
          <p:nvPr/>
        </p:nvSpPr>
        <p:spPr>
          <a:xfrm>
            <a:off x="581025" y="3076575"/>
            <a:ext cx="52292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In this N-dimensional space, concepts that are semantically similar are physically closer together. This allows us to perform mathematical operations on language.</a:t>
            </a:r>
            <a:endParaRPr/>
          </a:p>
        </p:txBody>
      </p:sp>
      <p:sp>
        <p:nvSpPr>
          <p:cNvPr id="177" name="Google Shape;177;p20"/>
          <p:cNvSpPr txBox="1"/>
          <p:nvPr/>
        </p:nvSpPr>
        <p:spPr>
          <a:xfrm>
            <a:off x="500350" y="5038725"/>
            <a:ext cx="52293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A1A1AA"/>
                </a:solidFill>
                <a:latin typeface="Urbanist"/>
                <a:ea typeface="Urbanist"/>
                <a:cs typeface="Urbanist"/>
                <a:sym typeface="Urbanist"/>
              </a:rPr>
              <a:t>Industry Models: </a:t>
            </a:r>
            <a:endParaRPr sz="1500" b="1">
              <a:solidFill>
                <a:srgbClr val="A1A1AA"/>
              </a:solidFill>
              <a:latin typeface="Urbanist"/>
              <a:ea typeface="Urbanist"/>
              <a:cs typeface="Urbanist"/>
              <a:sym typeface="Urbanist"/>
            </a:endParaRPr>
          </a:p>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(OpenAI),                                                        </a:t>
            </a:r>
            <a:endParaRPr sz="1500">
              <a:solidFill>
                <a:srgbClr val="A1A1AA"/>
              </a:solidFill>
              <a:latin typeface="Urbanist"/>
              <a:ea typeface="Urbanist"/>
              <a:cs typeface="Urbanist"/>
              <a:sym typeface="Urbanist"/>
            </a:endParaRPr>
          </a:p>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(HuggingFace).</a:t>
            </a:r>
            <a:endParaRPr/>
          </a:p>
        </p:txBody>
      </p:sp>
      <p:pic>
        <p:nvPicPr>
          <p:cNvPr id="178" name="Google Shape;178;p20" descr="image.png"/>
          <p:cNvPicPr preferRelativeResize="0"/>
          <p:nvPr/>
        </p:nvPicPr>
        <p:blipFill rotWithShape="1">
          <a:blip r:embed="rId5">
            <a:alphaModFix/>
          </a:blip>
          <a:srcRect/>
          <a:stretch/>
        </p:blipFill>
        <p:spPr>
          <a:xfrm>
            <a:off x="781050" y="4438650"/>
            <a:ext cx="3449091" cy="152400"/>
          </a:xfrm>
          <a:prstGeom prst="rect">
            <a:avLst/>
          </a:prstGeom>
          <a:noFill/>
          <a:ln>
            <a:noFill/>
          </a:ln>
        </p:spPr>
      </p:pic>
      <p:pic>
        <p:nvPicPr>
          <p:cNvPr id="179" name="Google Shape;179;p20" descr="image.png"/>
          <p:cNvPicPr preferRelativeResize="0"/>
          <p:nvPr/>
        </p:nvPicPr>
        <p:blipFill rotWithShape="1">
          <a:blip r:embed="rId6">
            <a:alphaModFix/>
          </a:blip>
          <a:srcRect/>
          <a:stretch/>
        </p:blipFill>
        <p:spPr>
          <a:xfrm>
            <a:off x="1474804" y="5455875"/>
            <a:ext cx="2438400" cy="276225"/>
          </a:xfrm>
          <a:prstGeom prst="rect">
            <a:avLst/>
          </a:prstGeom>
          <a:noFill/>
          <a:ln>
            <a:noFill/>
          </a:ln>
        </p:spPr>
      </p:pic>
      <p:pic>
        <p:nvPicPr>
          <p:cNvPr id="180" name="Google Shape;180;p20" descr="image.png"/>
          <p:cNvPicPr preferRelativeResize="0"/>
          <p:nvPr/>
        </p:nvPicPr>
        <p:blipFill rotWithShape="1">
          <a:blip r:embed="rId7">
            <a:alphaModFix/>
          </a:blip>
          <a:srcRect/>
          <a:stretch/>
        </p:blipFill>
        <p:spPr>
          <a:xfrm>
            <a:off x="2033275" y="5870187"/>
            <a:ext cx="762000" cy="276225"/>
          </a:xfrm>
          <a:prstGeom prst="rect">
            <a:avLst/>
          </a:prstGeom>
          <a:noFill/>
          <a:ln>
            <a:noFill/>
          </a:ln>
        </p:spPr>
      </p:pic>
      <p:pic>
        <p:nvPicPr>
          <p:cNvPr id="181" name="Google Shape;181;p20" descr="image.png"/>
          <p:cNvPicPr preferRelativeResize="0"/>
          <p:nvPr/>
        </p:nvPicPr>
        <p:blipFill rotWithShape="1">
          <a:blip r:embed="rId8">
            <a:alphaModFix/>
          </a:blip>
          <a:srcRect/>
          <a:stretch/>
        </p:blipFill>
        <p:spPr>
          <a:xfrm>
            <a:off x="6391275" y="2000250"/>
            <a:ext cx="5210175" cy="3790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185"/>
        <p:cNvGrpSpPr/>
        <p:nvPr/>
      </p:nvGrpSpPr>
      <p:grpSpPr>
        <a:xfrm>
          <a:off x="0" y="0"/>
          <a:ext cx="0" cy="0"/>
          <a:chOff x="0" y="0"/>
          <a:chExt cx="0" cy="0"/>
        </a:xfrm>
      </p:grpSpPr>
      <p:pic>
        <p:nvPicPr>
          <p:cNvPr id="186" name="Google Shape;186;p21" descr="image.png"/>
          <p:cNvPicPr preferRelativeResize="0"/>
          <p:nvPr/>
        </p:nvPicPr>
        <p:blipFill rotWithShape="1">
          <a:blip r:embed="rId3">
            <a:alphaModFix/>
          </a:blip>
          <a:srcRect/>
          <a:stretch/>
        </p:blipFill>
        <p:spPr>
          <a:xfrm>
            <a:off x="581025" y="1562100"/>
            <a:ext cx="3486150" cy="2286000"/>
          </a:xfrm>
          <a:prstGeom prst="rect">
            <a:avLst/>
          </a:prstGeom>
          <a:noFill/>
          <a:ln>
            <a:noFill/>
          </a:ln>
        </p:spPr>
      </p:pic>
      <p:pic>
        <p:nvPicPr>
          <p:cNvPr id="187" name="Google Shape;187;p21" descr="image.png"/>
          <p:cNvPicPr preferRelativeResize="0"/>
          <p:nvPr/>
        </p:nvPicPr>
        <p:blipFill rotWithShape="1">
          <a:blip r:embed="rId4">
            <a:alphaModFix/>
          </a:blip>
          <a:srcRect/>
          <a:stretch/>
        </p:blipFill>
        <p:spPr>
          <a:xfrm>
            <a:off x="4352925" y="1562100"/>
            <a:ext cx="3486150" cy="2286000"/>
          </a:xfrm>
          <a:prstGeom prst="rect">
            <a:avLst/>
          </a:prstGeom>
          <a:noFill/>
          <a:ln>
            <a:noFill/>
          </a:ln>
        </p:spPr>
      </p:pic>
      <p:pic>
        <p:nvPicPr>
          <p:cNvPr id="188" name="Google Shape;188;p21" descr="image.png"/>
          <p:cNvPicPr preferRelativeResize="0"/>
          <p:nvPr/>
        </p:nvPicPr>
        <p:blipFill rotWithShape="1">
          <a:blip r:embed="rId5">
            <a:alphaModFix/>
          </a:blip>
          <a:srcRect/>
          <a:stretch/>
        </p:blipFill>
        <p:spPr>
          <a:xfrm>
            <a:off x="8124825" y="1562100"/>
            <a:ext cx="3486150" cy="2286000"/>
          </a:xfrm>
          <a:prstGeom prst="rect">
            <a:avLst/>
          </a:prstGeom>
          <a:noFill/>
          <a:ln>
            <a:noFill/>
          </a:ln>
        </p:spPr>
      </p:pic>
      <p:sp>
        <p:nvSpPr>
          <p:cNvPr id="189" name="Google Shape;189;p21"/>
          <p:cNvSpPr txBox="1"/>
          <p:nvPr/>
        </p:nvSpPr>
        <p:spPr>
          <a:xfrm>
            <a:off x="581025" y="581025"/>
            <a:ext cx="11581447"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AFAFA"/>
                </a:solidFill>
                <a:latin typeface="Urbanist"/>
                <a:ea typeface="Urbanist"/>
                <a:cs typeface="Urbanist"/>
                <a:sym typeface="Urbanist"/>
              </a:rPr>
              <a:t>Vector </a:t>
            </a:r>
            <a:r>
              <a:rPr lang="en-US" sz="3600" b="1" i="0" u="none" strike="noStrike" cap="none">
                <a:solidFill>
                  <a:srgbClr val="00B8FF"/>
                </a:solidFill>
                <a:latin typeface="Urbanist"/>
                <a:ea typeface="Urbanist"/>
                <a:cs typeface="Urbanist"/>
                <a:sym typeface="Urbanist"/>
              </a:rPr>
              <a:t>Databases</a:t>
            </a:r>
            <a:endParaRPr/>
          </a:p>
        </p:txBody>
      </p:sp>
      <p:sp>
        <p:nvSpPr>
          <p:cNvPr id="190" name="Google Shape;190;p21"/>
          <p:cNvSpPr txBox="1"/>
          <p:nvPr/>
        </p:nvSpPr>
        <p:spPr>
          <a:xfrm>
            <a:off x="581025" y="4076700"/>
            <a:ext cx="1780222"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FAFAFA"/>
                </a:solidFill>
                <a:latin typeface="Urbanist SemiBold"/>
                <a:ea typeface="Urbanist SemiBold"/>
                <a:cs typeface="Urbanist SemiBold"/>
                <a:sym typeface="Urbanist SemiBold"/>
              </a:rPr>
              <a:t>Why not SQL?</a:t>
            </a:r>
            <a:endParaRPr/>
          </a:p>
        </p:txBody>
      </p:sp>
      <p:sp>
        <p:nvSpPr>
          <p:cNvPr id="191" name="Google Shape;191;p21"/>
          <p:cNvSpPr txBox="1"/>
          <p:nvPr/>
        </p:nvSpPr>
        <p:spPr>
          <a:xfrm>
            <a:off x="581025" y="4552950"/>
            <a:ext cx="3486150"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Standard SQL relies on exact keyword matching. If the user searches for "automobile", a SQL DB won't return a row containing "car". Vector DBs understand the meaning behind the query.</a:t>
            </a:r>
            <a:endParaRPr/>
          </a:p>
        </p:txBody>
      </p:sp>
      <p:sp>
        <p:nvSpPr>
          <p:cNvPr id="192" name="Google Shape;192;p21"/>
          <p:cNvSpPr txBox="1"/>
          <p:nvPr/>
        </p:nvSpPr>
        <p:spPr>
          <a:xfrm>
            <a:off x="4352925" y="4076700"/>
            <a:ext cx="3170396"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FAFAFA"/>
                </a:solidFill>
                <a:latin typeface="Urbanist SemiBold"/>
                <a:ea typeface="Urbanist SemiBold"/>
                <a:cs typeface="Urbanist SemiBold"/>
                <a:sym typeface="Urbanist SemiBold"/>
              </a:rPr>
              <a:t>Nearest Neighbor Search</a:t>
            </a:r>
            <a:endParaRPr/>
          </a:p>
        </p:txBody>
      </p:sp>
      <p:sp>
        <p:nvSpPr>
          <p:cNvPr id="193" name="Google Shape;193;p21"/>
          <p:cNvSpPr txBox="1"/>
          <p:nvPr/>
        </p:nvSpPr>
        <p:spPr>
          <a:xfrm>
            <a:off x="4352925" y="4552950"/>
            <a:ext cx="3486150"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We calculate the distance between the Query Vector and all Document Vectors to find the most relevant context. The most common metric used is </a:t>
            </a:r>
            <a:r>
              <a:rPr lang="en-US" sz="1500" b="0" i="0" u="none" strike="noStrike" cap="none">
                <a:solidFill>
                  <a:srgbClr val="00FF9D"/>
                </a:solidFill>
                <a:latin typeface="Urbanist"/>
                <a:ea typeface="Urbanist"/>
                <a:cs typeface="Urbanist"/>
                <a:sym typeface="Urbanist"/>
              </a:rPr>
              <a:t>Cosine Similarity</a:t>
            </a:r>
            <a:r>
              <a:rPr lang="en-US" sz="1500" b="0" i="0" u="none" strike="noStrike" cap="none">
                <a:solidFill>
                  <a:srgbClr val="A1A1AA"/>
                </a:solidFill>
                <a:latin typeface="Urbanist"/>
                <a:ea typeface="Urbanist"/>
                <a:cs typeface="Urbanist"/>
                <a:sym typeface="Urbanist"/>
              </a:rPr>
              <a:t>.</a:t>
            </a:r>
            <a:endParaRPr/>
          </a:p>
        </p:txBody>
      </p:sp>
      <p:sp>
        <p:nvSpPr>
          <p:cNvPr id="194" name="Google Shape;194;p21"/>
          <p:cNvSpPr txBox="1"/>
          <p:nvPr/>
        </p:nvSpPr>
        <p:spPr>
          <a:xfrm>
            <a:off x="8124825" y="4076700"/>
            <a:ext cx="1760220"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FAFAFA"/>
                </a:solidFill>
                <a:latin typeface="Urbanist SemiBold"/>
                <a:ea typeface="Urbanist SemiBold"/>
                <a:cs typeface="Urbanist SemiBold"/>
                <a:sym typeface="Urbanist SemiBold"/>
              </a:rPr>
              <a:t>Industry Tools</a:t>
            </a:r>
            <a:endParaRPr/>
          </a:p>
        </p:txBody>
      </p:sp>
      <p:sp>
        <p:nvSpPr>
          <p:cNvPr id="195" name="Google Shape;195;p21"/>
          <p:cNvSpPr txBox="1"/>
          <p:nvPr/>
        </p:nvSpPr>
        <p:spPr>
          <a:xfrm>
            <a:off x="8124825" y="4552950"/>
            <a:ext cx="3486150"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The landscape is moving fast. Top players include </a:t>
            </a:r>
            <a:r>
              <a:rPr lang="en-US" sz="1500" b="1" i="0" u="none" strike="noStrike" cap="none">
                <a:solidFill>
                  <a:srgbClr val="A1A1AA"/>
                </a:solidFill>
                <a:latin typeface="Urbanist"/>
                <a:ea typeface="Urbanist"/>
                <a:cs typeface="Urbanist"/>
                <a:sym typeface="Urbanist"/>
              </a:rPr>
              <a:t>ChromaDB</a:t>
            </a:r>
            <a:r>
              <a:rPr lang="en-US" sz="1500" b="0" i="0" u="none" strike="noStrike" cap="none">
                <a:solidFill>
                  <a:srgbClr val="A1A1AA"/>
                </a:solidFill>
                <a:latin typeface="Urbanist"/>
                <a:ea typeface="Urbanist"/>
                <a:cs typeface="Urbanist"/>
                <a:sym typeface="Urbanist"/>
              </a:rPr>
              <a:t> (great for local dev), </a:t>
            </a:r>
            <a:r>
              <a:rPr lang="en-US" sz="1500" b="1" i="0" u="none" strike="noStrike" cap="none">
                <a:solidFill>
                  <a:srgbClr val="A1A1AA"/>
                </a:solidFill>
                <a:latin typeface="Urbanist"/>
                <a:ea typeface="Urbanist"/>
                <a:cs typeface="Urbanist"/>
                <a:sym typeface="Urbanist"/>
              </a:rPr>
              <a:t>Pinecone</a:t>
            </a:r>
            <a:r>
              <a:rPr lang="en-US" sz="1500" b="0" i="0" u="none" strike="noStrike" cap="none">
                <a:solidFill>
                  <a:srgbClr val="A1A1AA"/>
                </a:solidFill>
                <a:latin typeface="Urbanist"/>
                <a:ea typeface="Urbanist"/>
                <a:cs typeface="Urbanist"/>
                <a:sym typeface="Urbanist"/>
              </a:rPr>
              <a:t> (fully managed SaaS), </a:t>
            </a:r>
            <a:r>
              <a:rPr lang="en-US" sz="1500" b="1" i="0" u="none" strike="noStrike" cap="none">
                <a:solidFill>
                  <a:srgbClr val="A1A1AA"/>
                </a:solidFill>
                <a:latin typeface="Urbanist"/>
                <a:ea typeface="Urbanist"/>
                <a:cs typeface="Urbanist"/>
                <a:sym typeface="Urbanist"/>
              </a:rPr>
              <a:t>FAISS</a:t>
            </a:r>
            <a:r>
              <a:rPr lang="en-US" sz="1500" b="0" i="0" u="none" strike="noStrike" cap="none">
                <a:solidFill>
                  <a:srgbClr val="A1A1AA"/>
                </a:solidFill>
                <a:latin typeface="Urbanist"/>
                <a:ea typeface="Urbanist"/>
                <a:cs typeface="Urbanist"/>
                <a:sym typeface="Urbanist"/>
              </a:rPr>
              <a:t> (Meta's library), and </a:t>
            </a:r>
            <a:r>
              <a:rPr lang="en-US" sz="1500" b="1" i="0" u="none" strike="noStrike" cap="none">
                <a:solidFill>
                  <a:srgbClr val="A1A1AA"/>
                </a:solidFill>
                <a:latin typeface="Urbanist"/>
                <a:ea typeface="Urbanist"/>
                <a:cs typeface="Urbanist"/>
                <a:sym typeface="Urbanist"/>
              </a:rPr>
              <a:t>Qdrant</a:t>
            </a:r>
            <a:r>
              <a:rPr lang="en-US" sz="1500" b="0" i="0" u="none" strike="noStrike" cap="none">
                <a:solidFill>
                  <a:srgbClr val="A1A1AA"/>
                </a:solidFill>
                <a:latin typeface="Urbanist"/>
                <a:ea typeface="Urbanist"/>
                <a:cs typeface="Urbanist"/>
                <a:sym typeface="Urbanist"/>
              </a:rPr>
              <a:t>.</a:t>
            </a:r>
            <a:endParaRPr/>
          </a:p>
        </p:txBody>
      </p:sp>
      <p:pic>
        <p:nvPicPr>
          <p:cNvPr id="196" name="Google Shape;196;p21" descr="image.png"/>
          <p:cNvPicPr preferRelativeResize="0"/>
          <p:nvPr/>
        </p:nvPicPr>
        <p:blipFill rotWithShape="1">
          <a:blip r:embed="rId6">
            <a:alphaModFix/>
          </a:blip>
          <a:srcRect/>
          <a:stretch/>
        </p:blipFill>
        <p:spPr>
          <a:xfrm>
            <a:off x="590550" y="1571625"/>
            <a:ext cx="3467100" cy="2266950"/>
          </a:xfrm>
          <a:prstGeom prst="rect">
            <a:avLst/>
          </a:prstGeom>
          <a:noFill/>
          <a:ln>
            <a:noFill/>
          </a:ln>
        </p:spPr>
      </p:pic>
      <p:pic>
        <p:nvPicPr>
          <p:cNvPr id="197" name="Google Shape;197;p21" descr="image.png"/>
          <p:cNvPicPr preferRelativeResize="0"/>
          <p:nvPr/>
        </p:nvPicPr>
        <p:blipFill rotWithShape="1">
          <a:blip r:embed="rId7">
            <a:alphaModFix/>
          </a:blip>
          <a:srcRect/>
          <a:stretch/>
        </p:blipFill>
        <p:spPr>
          <a:xfrm>
            <a:off x="4362450" y="1571625"/>
            <a:ext cx="3467100" cy="2266950"/>
          </a:xfrm>
          <a:prstGeom prst="rect">
            <a:avLst/>
          </a:prstGeom>
          <a:noFill/>
          <a:ln>
            <a:noFill/>
          </a:ln>
        </p:spPr>
      </p:pic>
      <p:pic>
        <p:nvPicPr>
          <p:cNvPr id="198" name="Google Shape;198;p21" descr="image.png"/>
          <p:cNvPicPr preferRelativeResize="0"/>
          <p:nvPr/>
        </p:nvPicPr>
        <p:blipFill rotWithShape="1">
          <a:blip r:embed="rId8">
            <a:alphaModFix/>
          </a:blip>
          <a:srcRect/>
          <a:stretch/>
        </p:blipFill>
        <p:spPr>
          <a:xfrm>
            <a:off x="8134350" y="1571625"/>
            <a:ext cx="3467100" cy="2266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202"/>
        <p:cNvGrpSpPr/>
        <p:nvPr/>
      </p:nvGrpSpPr>
      <p:grpSpPr>
        <a:xfrm>
          <a:off x="0" y="0"/>
          <a:ext cx="0" cy="0"/>
          <a:chOff x="0" y="0"/>
          <a:chExt cx="0" cy="0"/>
        </a:xfrm>
      </p:grpSpPr>
      <p:sp>
        <p:nvSpPr>
          <p:cNvPr id="203" name="Google Shape;203;p22"/>
          <p:cNvSpPr txBox="1"/>
          <p:nvPr/>
        </p:nvSpPr>
        <p:spPr>
          <a:xfrm>
            <a:off x="581025" y="581025"/>
            <a:ext cx="11581447"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AFAFA"/>
                </a:solidFill>
                <a:latin typeface="Urbanist"/>
                <a:ea typeface="Urbanist"/>
                <a:cs typeface="Urbanist"/>
                <a:sym typeface="Urbanist"/>
              </a:rPr>
              <a:t>The Art of </a:t>
            </a:r>
            <a:r>
              <a:rPr lang="en-US" sz="3600" b="1" i="0" u="none" strike="noStrike" cap="none">
                <a:solidFill>
                  <a:srgbClr val="00FF9D"/>
                </a:solidFill>
                <a:latin typeface="Urbanist"/>
                <a:ea typeface="Urbanist"/>
                <a:cs typeface="Urbanist"/>
                <a:sym typeface="Urbanist"/>
              </a:rPr>
              <a:t>Chunking</a:t>
            </a:r>
            <a:endParaRPr/>
          </a:p>
        </p:txBody>
      </p:sp>
      <p:sp>
        <p:nvSpPr>
          <p:cNvPr id="204" name="Google Shape;204;p22"/>
          <p:cNvSpPr txBox="1"/>
          <p:nvPr/>
        </p:nvSpPr>
        <p:spPr>
          <a:xfrm>
            <a:off x="1809750" y="1320825"/>
            <a:ext cx="8572500" cy="72030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A1A1AA"/>
                </a:solidFill>
                <a:latin typeface="Urbanist"/>
                <a:ea typeface="Urbanist"/>
                <a:cs typeface="Urbanist"/>
                <a:sym typeface="Urbanist"/>
              </a:rPr>
              <a:t>LLMs have strict Context Window limits. We cannot feed a 1000-page PDF into the prompt. We must split the document into digestible, semantic pieces.</a:t>
            </a:r>
            <a:endParaRPr/>
          </a:p>
        </p:txBody>
      </p:sp>
      <p:sp>
        <p:nvSpPr>
          <p:cNvPr id="205" name="Google Shape;205;p22"/>
          <p:cNvSpPr txBox="1"/>
          <p:nvPr/>
        </p:nvSpPr>
        <p:spPr>
          <a:xfrm>
            <a:off x="2286000" y="2433166"/>
            <a:ext cx="80964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AFAFA"/>
                </a:solidFill>
                <a:latin typeface="Urbanist SemiBold"/>
                <a:ea typeface="Urbanist SemiBold"/>
                <a:cs typeface="Urbanist SemiBold"/>
                <a:sym typeface="Urbanist SemiBold"/>
              </a:rPr>
              <a:t>Character Splitting</a:t>
            </a:r>
            <a:r>
              <a:rPr lang="en-US" sz="1500" b="0" i="0" u="none" strike="noStrike" cap="none">
                <a:solidFill>
                  <a:srgbClr val="A1A1AA"/>
                </a:solidFill>
                <a:latin typeface="Urbanist"/>
                <a:ea typeface="Urbanist"/>
                <a:cs typeface="Urbanist"/>
                <a:sym typeface="Urbanist"/>
              </a:rPr>
              <a:t> Splitting exactly every N characters. It's fast and simple, but highly destructive. It often cuts words in half or splits a single thought across two different chunks, destroying the semantic meaning.</a:t>
            </a:r>
            <a:endParaRPr/>
          </a:p>
        </p:txBody>
      </p:sp>
      <p:sp>
        <p:nvSpPr>
          <p:cNvPr id="206" name="Google Shape;206;p22"/>
          <p:cNvSpPr txBox="1"/>
          <p:nvPr/>
        </p:nvSpPr>
        <p:spPr>
          <a:xfrm>
            <a:off x="2286000" y="4006577"/>
            <a:ext cx="80964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AFAFA"/>
                </a:solidFill>
                <a:latin typeface="Urbanist SemiBold"/>
                <a:ea typeface="Urbanist SemiBold"/>
                <a:cs typeface="Urbanist SemiBold"/>
                <a:sym typeface="Urbanist SemiBold"/>
              </a:rPr>
              <a:t>Token Splitting</a:t>
            </a:r>
            <a:r>
              <a:rPr lang="en-US" sz="1500" b="0" i="0" u="none" strike="noStrike" cap="none">
                <a:solidFill>
                  <a:srgbClr val="A1A1AA"/>
                </a:solidFill>
                <a:latin typeface="Urbanist"/>
                <a:ea typeface="Urbanist"/>
                <a:cs typeface="Urbanist"/>
                <a:sym typeface="Urbanist"/>
              </a:rPr>
              <a:t> Splitting based on the LLM's tokenizer (e.g., tiktoken). Better than character splitting, as it respects how the model actually reads text. We often use an overlap (e.g., 500 tokens with 50 token overlap) to preserve context.</a:t>
            </a:r>
            <a:endParaRPr/>
          </a:p>
        </p:txBody>
      </p:sp>
      <p:sp>
        <p:nvSpPr>
          <p:cNvPr id="207" name="Google Shape;207;p22"/>
          <p:cNvSpPr txBox="1"/>
          <p:nvPr/>
        </p:nvSpPr>
        <p:spPr>
          <a:xfrm>
            <a:off x="2286000" y="5579988"/>
            <a:ext cx="80964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AFAFA"/>
                </a:solidFill>
                <a:latin typeface="Urbanist SemiBold"/>
                <a:ea typeface="Urbanist SemiBold"/>
                <a:cs typeface="Urbanist SemiBold"/>
                <a:sym typeface="Urbanist SemiBold"/>
              </a:rPr>
              <a:t>Semantic Splitting (Advanced)</a:t>
            </a:r>
            <a:r>
              <a:rPr lang="en-US" sz="1500" b="0" i="0" u="none" strike="noStrike" cap="none">
                <a:solidFill>
                  <a:srgbClr val="A1A1AA"/>
                </a:solidFill>
                <a:latin typeface="Urbanist"/>
                <a:ea typeface="Urbanist"/>
                <a:cs typeface="Urbanist"/>
                <a:sym typeface="Urbanist"/>
              </a:rPr>
              <a:t> Using NLP to identify sentence or paragraph boundaries. It attempts to keep structurally related ideas together. This is computationally heavier but yields vastly superior retrieval results.</a:t>
            </a:r>
            <a:endParaRPr/>
          </a:p>
        </p:txBody>
      </p:sp>
      <p:pic>
        <p:nvPicPr>
          <p:cNvPr id="208" name="Google Shape;208;p22" descr="image.png"/>
          <p:cNvPicPr preferRelativeResize="0"/>
          <p:nvPr/>
        </p:nvPicPr>
        <p:blipFill rotWithShape="1">
          <a:blip r:embed="rId3">
            <a:alphaModFix/>
          </a:blip>
          <a:srcRect/>
          <a:stretch/>
        </p:blipFill>
        <p:spPr>
          <a:xfrm>
            <a:off x="1809750" y="2461741"/>
            <a:ext cx="228600" cy="247650"/>
          </a:xfrm>
          <a:prstGeom prst="rect">
            <a:avLst/>
          </a:prstGeom>
          <a:noFill/>
          <a:ln>
            <a:noFill/>
          </a:ln>
        </p:spPr>
      </p:pic>
      <p:pic>
        <p:nvPicPr>
          <p:cNvPr id="209" name="Google Shape;209;p22" descr="image.png"/>
          <p:cNvPicPr preferRelativeResize="0"/>
          <p:nvPr/>
        </p:nvPicPr>
        <p:blipFill rotWithShape="1">
          <a:blip r:embed="rId4">
            <a:alphaModFix/>
          </a:blip>
          <a:srcRect/>
          <a:stretch/>
        </p:blipFill>
        <p:spPr>
          <a:xfrm>
            <a:off x="1809750" y="4035152"/>
            <a:ext cx="285750" cy="247650"/>
          </a:xfrm>
          <a:prstGeom prst="rect">
            <a:avLst/>
          </a:prstGeom>
          <a:noFill/>
          <a:ln>
            <a:noFill/>
          </a:ln>
        </p:spPr>
      </p:pic>
      <p:pic>
        <p:nvPicPr>
          <p:cNvPr id="210" name="Google Shape;210;p22" descr="image.png"/>
          <p:cNvPicPr preferRelativeResize="0"/>
          <p:nvPr/>
        </p:nvPicPr>
        <p:blipFill rotWithShape="1">
          <a:blip r:embed="rId5">
            <a:alphaModFix/>
          </a:blip>
          <a:srcRect/>
          <a:stretch/>
        </p:blipFill>
        <p:spPr>
          <a:xfrm>
            <a:off x="1809750" y="5608563"/>
            <a:ext cx="228600" cy="247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6" name="Google Shape;216;p23" descr="image.png"/>
          <p:cNvPicPr preferRelativeResize="0"/>
          <p:nvPr/>
        </p:nvPicPr>
        <p:blipFill rotWithShape="1">
          <a:blip r:embed="rId4">
            <a:alphaModFix/>
          </a:blip>
          <a:srcRect/>
          <a:stretch/>
        </p:blipFill>
        <p:spPr>
          <a:xfrm>
            <a:off x="5715000" y="3469034"/>
            <a:ext cx="762000" cy="57150"/>
          </a:xfrm>
          <a:prstGeom prst="rect">
            <a:avLst/>
          </a:prstGeom>
          <a:noFill/>
          <a:ln>
            <a:noFill/>
          </a:ln>
        </p:spPr>
      </p:pic>
      <p:sp>
        <p:nvSpPr>
          <p:cNvPr id="217" name="Google Shape;217;p23"/>
          <p:cNvSpPr txBox="1"/>
          <p:nvPr/>
        </p:nvSpPr>
        <p:spPr>
          <a:xfrm>
            <a:off x="2969474" y="2164625"/>
            <a:ext cx="6861000" cy="92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0FF9D"/>
                </a:solidFill>
                <a:latin typeface="Urbanist"/>
                <a:ea typeface="Urbanist"/>
                <a:cs typeface="Urbanist"/>
                <a:sym typeface="Urbanist"/>
              </a:rPr>
              <a:t>Part 3: Let's Build</a:t>
            </a:r>
            <a:r>
              <a:rPr lang="en-US" sz="6000" b="1">
                <a:solidFill>
                  <a:srgbClr val="00FF9D"/>
                </a:solidFill>
                <a:latin typeface="Urbanist"/>
                <a:ea typeface="Urbanist"/>
                <a:cs typeface="Urbanist"/>
                <a:sym typeface="Urbanist"/>
              </a:rPr>
              <a:t> </a:t>
            </a:r>
            <a:r>
              <a:rPr lang="en-US" sz="6000" b="1" i="0" u="none" strike="noStrike" cap="none">
                <a:solidFill>
                  <a:srgbClr val="00FF9D"/>
                </a:solidFill>
                <a:latin typeface="Urbanist"/>
                <a:ea typeface="Urbanist"/>
                <a:cs typeface="Urbanist"/>
                <a:sym typeface="Urbanist"/>
              </a:rPr>
              <a:t>It</a:t>
            </a:r>
            <a:endParaRPr/>
          </a:p>
        </p:txBody>
      </p:sp>
      <p:sp>
        <p:nvSpPr>
          <p:cNvPr id="218" name="Google Shape;218;p23"/>
          <p:cNvSpPr txBox="1"/>
          <p:nvPr/>
        </p:nvSpPr>
        <p:spPr>
          <a:xfrm>
            <a:off x="3719562" y="3907184"/>
            <a:ext cx="4752900" cy="840300"/>
          </a:xfrm>
          <a:prstGeom prst="rect">
            <a:avLst/>
          </a:prstGeom>
          <a:noFill/>
          <a:ln>
            <a:noFill/>
          </a:ln>
        </p:spPr>
        <p:txBody>
          <a:bodyPr spcFirstLastPara="1" wrap="square" lIns="0" tIns="0" rIns="0" bIns="0" anchor="t" anchorCtr="0">
            <a:spAutoFit/>
          </a:bodyPr>
          <a:lstStyle/>
          <a:p>
            <a:pPr marL="0" marR="0" lvl="0" indent="0" algn="l" rtl="0">
              <a:lnSpc>
                <a:spcPct val="159952"/>
              </a:lnSpc>
              <a:spcBef>
                <a:spcPts val="0"/>
              </a:spcBef>
              <a:spcAft>
                <a:spcPts val="0"/>
              </a:spcAft>
              <a:buNone/>
            </a:pPr>
            <a:r>
              <a:rPr lang="en-US" sz="2100" b="0" i="0" u="none" strike="noStrike" cap="none">
                <a:solidFill>
                  <a:srgbClr val="FAFAFA"/>
                </a:solidFill>
                <a:latin typeface="Urbanist"/>
                <a:ea typeface="Urbanist"/>
                <a:cs typeface="Urbanist"/>
                <a:sym typeface="Urbanist"/>
              </a:rPr>
              <a:t>Switching from Slides to Google Colab.</a:t>
            </a:r>
            <a:br>
              <a:rPr lang="en-US" sz="1800" b="0" i="0" u="none" strike="noStrike" cap="none">
                <a:solidFill>
                  <a:schemeClr val="dk1"/>
                </a:solidFill>
                <a:latin typeface="Calibri"/>
                <a:ea typeface="Calibri"/>
                <a:cs typeface="Calibri"/>
                <a:sym typeface="Calibri"/>
              </a:rPr>
            </a:br>
            <a:r>
              <a:rPr lang="en-US" sz="2100" b="0" i="0" u="none" strike="noStrike" cap="none">
                <a:solidFill>
                  <a:srgbClr val="FAFAFA"/>
                </a:solidFill>
                <a:latin typeface="Urbanist"/>
                <a:ea typeface="Urbanist"/>
                <a:cs typeface="Urbanist"/>
                <a:sym typeface="Urbanist"/>
              </a:rPr>
              <a:t> We will use                   ,               </a:t>
            </a:r>
            <a:r>
              <a:rPr lang="en-US" sz="2100">
                <a:solidFill>
                  <a:srgbClr val="FAFAFA"/>
                </a:solidFill>
                <a:latin typeface="Urbanist"/>
                <a:ea typeface="Urbanist"/>
                <a:cs typeface="Urbanist"/>
                <a:sym typeface="Urbanist"/>
              </a:rPr>
              <a:t>, and </a:t>
            </a:r>
            <a:endParaRPr/>
          </a:p>
        </p:txBody>
      </p:sp>
      <p:pic>
        <p:nvPicPr>
          <p:cNvPr id="219" name="Google Shape;219;p23" descr="image.png"/>
          <p:cNvPicPr preferRelativeResize="0"/>
          <p:nvPr/>
        </p:nvPicPr>
        <p:blipFill rotWithShape="1">
          <a:blip r:embed="rId5">
            <a:alphaModFix/>
          </a:blip>
          <a:srcRect/>
          <a:stretch/>
        </p:blipFill>
        <p:spPr>
          <a:xfrm>
            <a:off x="5100236" y="4558675"/>
            <a:ext cx="1076325" cy="276225"/>
          </a:xfrm>
          <a:prstGeom prst="rect">
            <a:avLst/>
          </a:prstGeom>
          <a:noFill/>
          <a:ln>
            <a:noFill/>
          </a:ln>
        </p:spPr>
      </p:pic>
      <p:pic>
        <p:nvPicPr>
          <p:cNvPr id="220" name="Google Shape;220;p23" descr="image.png"/>
          <p:cNvPicPr preferRelativeResize="0"/>
          <p:nvPr/>
        </p:nvPicPr>
        <p:blipFill rotWithShape="1">
          <a:blip r:embed="rId6">
            <a:alphaModFix/>
          </a:blip>
          <a:srcRect/>
          <a:stretch/>
        </p:blipFill>
        <p:spPr>
          <a:xfrm>
            <a:off x="6352961" y="4576372"/>
            <a:ext cx="971550" cy="276225"/>
          </a:xfrm>
          <a:prstGeom prst="rect">
            <a:avLst/>
          </a:prstGeom>
          <a:noFill/>
          <a:ln>
            <a:noFill/>
          </a:ln>
        </p:spPr>
      </p:pic>
      <p:pic>
        <p:nvPicPr>
          <p:cNvPr id="221" name="Google Shape;221;p23" descr="image.png"/>
          <p:cNvPicPr preferRelativeResize="0"/>
          <p:nvPr/>
        </p:nvPicPr>
        <p:blipFill rotWithShape="1">
          <a:blip r:embed="rId7">
            <a:alphaModFix/>
          </a:blip>
          <a:srcRect/>
          <a:stretch/>
        </p:blipFill>
        <p:spPr>
          <a:xfrm>
            <a:off x="7920012" y="4558674"/>
            <a:ext cx="552450" cy="276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225"/>
        <p:cNvGrpSpPr/>
        <p:nvPr/>
      </p:nvGrpSpPr>
      <p:grpSpPr>
        <a:xfrm>
          <a:off x="0" y="0"/>
          <a:ext cx="0" cy="0"/>
          <a:chOff x="0" y="0"/>
          <a:chExt cx="0" cy="0"/>
        </a:xfrm>
      </p:grpSpPr>
      <p:pic>
        <p:nvPicPr>
          <p:cNvPr id="226" name="Google Shape;226;p24" descr="image.png"/>
          <p:cNvPicPr preferRelativeResize="0"/>
          <p:nvPr/>
        </p:nvPicPr>
        <p:blipFill rotWithShape="1">
          <a:blip r:embed="rId3">
            <a:alphaModFix/>
          </a:blip>
          <a:srcRect/>
          <a:stretch/>
        </p:blipFill>
        <p:spPr>
          <a:xfrm>
            <a:off x="581025" y="4162425"/>
            <a:ext cx="11029950" cy="38100"/>
          </a:xfrm>
          <a:prstGeom prst="rect">
            <a:avLst/>
          </a:prstGeom>
          <a:noFill/>
          <a:ln>
            <a:noFill/>
          </a:ln>
        </p:spPr>
      </p:pic>
      <p:sp>
        <p:nvSpPr>
          <p:cNvPr id="227" name="Google Shape;227;p24"/>
          <p:cNvSpPr txBox="1"/>
          <p:nvPr/>
        </p:nvSpPr>
        <p:spPr>
          <a:xfrm>
            <a:off x="581025" y="581025"/>
            <a:ext cx="11581447"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AFAFA"/>
                </a:solidFill>
                <a:latin typeface="Urbanist"/>
                <a:ea typeface="Urbanist"/>
                <a:cs typeface="Urbanist"/>
                <a:sym typeface="Urbanist"/>
              </a:rPr>
              <a:t>The Code </a:t>
            </a:r>
            <a:r>
              <a:rPr lang="en-US" sz="3600" b="1" i="0" u="none" strike="noStrike" cap="none">
                <a:solidFill>
                  <a:srgbClr val="00B8FF"/>
                </a:solidFill>
                <a:latin typeface="Urbanist"/>
                <a:ea typeface="Urbanist"/>
                <a:cs typeface="Urbanist"/>
                <a:sym typeface="Urbanist"/>
              </a:rPr>
              <a:t>Pipeline</a:t>
            </a:r>
            <a:endParaRPr/>
          </a:p>
        </p:txBody>
      </p:sp>
      <p:sp>
        <p:nvSpPr>
          <p:cNvPr id="228" name="Google Shape;228;p24"/>
          <p:cNvSpPr/>
          <p:nvPr/>
        </p:nvSpPr>
        <p:spPr>
          <a:xfrm>
            <a:off x="581025" y="4162425"/>
            <a:ext cx="11029950" cy="38100"/>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9" name="Google Shape;229;p24"/>
          <p:cNvSpPr txBox="1"/>
          <p:nvPr/>
        </p:nvSpPr>
        <p:spPr>
          <a:xfrm>
            <a:off x="62693" y="2983408"/>
            <a:ext cx="3242592"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FAFAFA"/>
                </a:solidFill>
                <a:latin typeface="Urbanist SemiBold"/>
                <a:ea typeface="Urbanist SemiBold"/>
                <a:cs typeface="Urbanist SemiBold"/>
                <a:sym typeface="Urbanist SemiBold"/>
              </a:rPr>
              <a:t>1. Load Data</a:t>
            </a:r>
            <a:endParaRPr/>
          </a:p>
        </p:txBody>
      </p:sp>
      <p:sp>
        <p:nvSpPr>
          <p:cNvPr id="230" name="Google Shape;230;p24"/>
          <p:cNvSpPr txBox="1"/>
          <p:nvPr/>
        </p:nvSpPr>
        <p:spPr>
          <a:xfrm>
            <a:off x="139898" y="3288208"/>
            <a:ext cx="3088183" cy="455116"/>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A1A1AA"/>
                </a:solidFill>
                <a:latin typeface="Urbanist"/>
                <a:ea typeface="Urbanist"/>
                <a:cs typeface="Urbanist"/>
                <a:sym typeface="Urbanist"/>
              </a:rPr>
              <a:t>Load the PUA Student Handbook PDF using .</a:t>
            </a:r>
            <a:endParaRPr/>
          </a:p>
        </p:txBody>
      </p:sp>
      <p:sp>
        <p:nvSpPr>
          <p:cNvPr id="231" name="Google Shape;231;p24"/>
          <p:cNvSpPr txBox="1"/>
          <p:nvPr/>
        </p:nvSpPr>
        <p:spPr>
          <a:xfrm>
            <a:off x="2268624" y="4467225"/>
            <a:ext cx="3242592"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FAFAFA"/>
                </a:solidFill>
                <a:latin typeface="Urbanist SemiBold"/>
                <a:ea typeface="Urbanist SemiBold"/>
                <a:cs typeface="Urbanist SemiBold"/>
                <a:sym typeface="Urbanist SemiBold"/>
              </a:rPr>
              <a:t>2. Split Text</a:t>
            </a:r>
            <a:endParaRPr/>
          </a:p>
        </p:txBody>
      </p:sp>
      <p:sp>
        <p:nvSpPr>
          <p:cNvPr id="232" name="Google Shape;232;p24"/>
          <p:cNvSpPr txBox="1"/>
          <p:nvPr/>
        </p:nvSpPr>
        <p:spPr>
          <a:xfrm>
            <a:off x="2345828" y="4772025"/>
            <a:ext cx="3088183" cy="668387"/>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A1A1AA"/>
                </a:solidFill>
                <a:latin typeface="Urbanist"/>
                <a:ea typeface="Urbanist"/>
                <a:cs typeface="Urbanist"/>
                <a:sym typeface="Urbanist"/>
              </a:rPr>
              <a:t>Use to create chunks.</a:t>
            </a:r>
            <a:endParaRPr/>
          </a:p>
        </p:txBody>
      </p:sp>
      <p:sp>
        <p:nvSpPr>
          <p:cNvPr id="233" name="Google Shape;233;p24"/>
          <p:cNvSpPr txBox="1"/>
          <p:nvPr/>
        </p:nvSpPr>
        <p:spPr>
          <a:xfrm>
            <a:off x="4474554" y="2983408"/>
            <a:ext cx="3242592"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FAFAFA"/>
                </a:solidFill>
                <a:latin typeface="Urbanist SemiBold"/>
                <a:ea typeface="Urbanist SemiBold"/>
                <a:cs typeface="Urbanist SemiBold"/>
                <a:sym typeface="Urbanist SemiBold"/>
              </a:rPr>
              <a:t>3. Embed &amp; Store</a:t>
            </a:r>
            <a:endParaRPr/>
          </a:p>
        </p:txBody>
      </p:sp>
      <p:sp>
        <p:nvSpPr>
          <p:cNvPr id="234" name="Google Shape;234;p24"/>
          <p:cNvSpPr txBox="1"/>
          <p:nvPr/>
        </p:nvSpPr>
        <p:spPr>
          <a:xfrm>
            <a:off x="4551759" y="3288208"/>
            <a:ext cx="3088183" cy="455116"/>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A1A1AA"/>
                </a:solidFill>
                <a:latin typeface="Urbanist"/>
                <a:ea typeface="Urbanist"/>
                <a:cs typeface="Urbanist"/>
                <a:sym typeface="Urbanist"/>
              </a:rPr>
              <a:t>Initialize HF Embeddings and push to VectorStore.</a:t>
            </a:r>
            <a:endParaRPr/>
          </a:p>
        </p:txBody>
      </p:sp>
      <p:sp>
        <p:nvSpPr>
          <p:cNvPr id="235" name="Google Shape;235;p24"/>
          <p:cNvSpPr txBox="1"/>
          <p:nvPr/>
        </p:nvSpPr>
        <p:spPr>
          <a:xfrm>
            <a:off x="6680485" y="4467225"/>
            <a:ext cx="3242592"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FAFAFA"/>
                </a:solidFill>
                <a:latin typeface="Urbanist SemiBold"/>
                <a:ea typeface="Urbanist SemiBold"/>
                <a:cs typeface="Urbanist SemiBold"/>
                <a:sym typeface="Urbanist SemiBold"/>
              </a:rPr>
              <a:t>4. Retrieval Setup</a:t>
            </a:r>
            <a:endParaRPr/>
          </a:p>
        </p:txBody>
      </p:sp>
      <p:sp>
        <p:nvSpPr>
          <p:cNvPr id="236" name="Google Shape;236;p24"/>
          <p:cNvSpPr txBox="1"/>
          <p:nvPr/>
        </p:nvSpPr>
        <p:spPr>
          <a:xfrm>
            <a:off x="6757689" y="4772025"/>
            <a:ext cx="3088183" cy="455116"/>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A1A1AA"/>
                </a:solidFill>
                <a:latin typeface="Urbanist"/>
                <a:ea typeface="Urbanist"/>
                <a:cs typeface="Urbanist"/>
                <a:sym typeface="Urbanist"/>
              </a:rPr>
              <a:t>Convert the DB into a retriever interface .</a:t>
            </a:r>
            <a:endParaRPr/>
          </a:p>
        </p:txBody>
      </p:sp>
      <p:sp>
        <p:nvSpPr>
          <p:cNvPr id="237" name="Google Shape;237;p24"/>
          <p:cNvSpPr txBox="1"/>
          <p:nvPr/>
        </p:nvSpPr>
        <p:spPr>
          <a:xfrm>
            <a:off x="8893522" y="3011983"/>
            <a:ext cx="3228379"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FAFAFA"/>
                </a:solidFill>
                <a:latin typeface="Urbanist SemiBold"/>
                <a:ea typeface="Urbanist SemiBold"/>
                <a:cs typeface="Urbanist SemiBold"/>
                <a:sym typeface="Urbanist SemiBold"/>
              </a:rPr>
              <a:t>5. LLM Chain</a:t>
            </a:r>
            <a:endParaRPr/>
          </a:p>
        </p:txBody>
      </p:sp>
      <p:sp>
        <p:nvSpPr>
          <p:cNvPr id="238" name="Google Shape;238;p24"/>
          <p:cNvSpPr txBox="1"/>
          <p:nvPr/>
        </p:nvSpPr>
        <p:spPr>
          <a:xfrm>
            <a:off x="8963620" y="3316783"/>
            <a:ext cx="3088183" cy="426541"/>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A1A1AA"/>
                </a:solidFill>
                <a:latin typeface="Urbanist"/>
                <a:ea typeface="Urbanist"/>
                <a:cs typeface="Urbanist"/>
                <a:sym typeface="Urbanist"/>
              </a:rPr>
              <a:t>Inject retrieved context into a Prompt Template and invoke the LLM.</a:t>
            </a:r>
            <a:endParaRPr/>
          </a:p>
        </p:txBody>
      </p:sp>
      <p:pic>
        <p:nvPicPr>
          <p:cNvPr id="239" name="Google Shape;239;p24" descr="image.png"/>
          <p:cNvPicPr preferRelativeResize="0"/>
          <p:nvPr/>
        </p:nvPicPr>
        <p:blipFill rotWithShape="1">
          <a:blip r:embed="rId4">
            <a:alphaModFix/>
          </a:blip>
          <a:srcRect/>
          <a:stretch/>
        </p:blipFill>
        <p:spPr>
          <a:xfrm>
            <a:off x="1026765" y="3482429"/>
            <a:ext cx="1285875" cy="276225"/>
          </a:xfrm>
          <a:prstGeom prst="rect">
            <a:avLst/>
          </a:prstGeom>
          <a:noFill/>
          <a:ln>
            <a:noFill/>
          </a:ln>
        </p:spPr>
      </p:pic>
      <p:pic>
        <p:nvPicPr>
          <p:cNvPr id="240" name="Google Shape;240;p24" descr="image.png"/>
          <p:cNvPicPr preferRelativeResize="0"/>
          <p:nvPr/>
        </p:nvPicPr>
        <p:blipFill rotWithShape="1">
          <a:blip r:embed="rId5">
            <a:alphaModFix/>
          </a:blip>
          <a:srcRect/>
          <a:stretch/>
        </p:blipFill>
        <p:spPr>
          <a:xfrm>
            <a:off x="2345828" y="4966245"/>
            <a:ext cx="3276600" cy="276225"/>
          </a:xfrm>
          <a:prstGeom prst="rect">
            <a:avLst/>
          </a:prstGeom>
          <a:noFill/>
          <a:ln>
            <a:noFill/>
          </a:ln>
        </p:spPr>
      </p:pic>
      <p:pic>
        <p:nvPicPr>
          <p:cNvPr id="241" name="Google Shape;241;p24" descr="image.png"/>
          <p:cNvPicPr preferRelativeResize="0"/>
          <p:nvPr/>
        </p:nvPicPr>
        <p:blipFill rotWithShape="1">
          <a:blip r:embed="rId6">
            <a:alphaModFix/>
          </a:blip>
          <a:srcRect/>
          <a:stretch/>
        </p:blipFill>
        <p:spPr>
          <a:xfrm>
            <a:off x="4860425" y="3506238"/>
            <a:ext cx="762000" cy="228600"/>
          </a:xfrm>
          <a:prstGeom prst="rect">
            <a:avLst/>
          </a:prstGeom>
          <a:noFill/>
          <a:ln>
            <a:noFill/>
          </a:ln>
        </p:spPr>
      </p:pic>
      <p:pic>
        <p:nvPicPr>
          <p:cNvPr id="242" name="Google Shape;242;p24" descr="image.png"/>
          <p:cNvPicPr preferRelativeResize="0"/>
          <p:nvPr/>
        </p:nvPicPr>
        <p:blipFill rotWithShape="1">
          <a:blip r:embed="rId7">
            <a:alphaModFix/>
          </a:blip>
          <a:srcRect/>
          <a:stretch/>
        </p:blipFill>
        <p:spPr>
          <a:xfrm>
            <a:off x="7330231" y="4966245"/>
            <a:ext cx="1914525" cy="276225"/>
          </a:xfrm>
          <a:prstGeom prst="rect">
            <a:avLst/>
          </a:prstGeom>
          <a:noFill/>
          <a:ln>
            <a:noFill/>
          </a:ln>
        </p:spPr>
      </p:pic>
      <p:sp>
        <p:nvSpPr>
          <p:cNvPr id="243" name="Google Shape;243;p24"/>
          <p:cNvSpPr/>
          <p:nvPr/>
        </p:nvSpPr>
        <p:spPr>
          <a:xfrm>
            <a:off x="1569690" y="4067175"/>
            <a:ext cx="228600" cy="228600"/>
          </a:xfrm>
          <a:prstGeom prst="roundRect">
            <a:avLst>
              <a:gd name="adj" fmla="val 50000"/>
            </a:avLst>
          </a:prstGeom>
          <a:solidFill>
            <a:srgbClr val="09090B"/>
          </a:solidFill>
          <a:ln w="38100" cap="flat" cmpd="sng">
            <a:solidFill>
              <a:srgbClr val="00FF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24"/>
          <p:cNvSpPr/>
          <p:nvPr/>
        </p:nvSpPr>
        <p:spPr>
          <a:xfrm>
            <a:off x="3775620" y="4067175"/>
            <a:ext cx="228600" cy="228600"/>
          </a:xfrm>
          <a:prstGeom prst="roundRect">
            <a:avLst>
              <a:gd name="adj" fmla="val 50000"/>
            </a:avLst>
          </a:prstGeom>
          <a:solidFill>
            <a:srgbClr val="09090B"/>
          </a:solidFill>
          <a:ln w="38100" cap="flat" cmpd="sng">
            <a:solidFill>
              <a:srgbClr val="00FF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5" name="Google Shape;245;p24"/>
          <p:cNvSpPr/>
          <p:nvPr/>
        </p:nvSpPr>
        <p:spPr>
          <a:xfrm>
            <a:off x="5981551" y="4067175"/>
            <a:ext cx="228600" cy="228600"/>
          </a:xfrm>
          <a:prstGeom prst="roundRect">
            <a:avLst>
              <a:gd name="adj" fmla="val 50000"/>
            </a:avLst>
          </a:prstGeom>
          <a:solidFill>
            <a:srgbClr val="09090B"/>
          </a:solidFill>
          <a:ln w="38100" cap="flat" cmpd="sng">
            <a:solidFill>
              <a:srgbClr val="00FF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6" name="Google Shape;246;p24"/>
          <p:cNvSpPr/>
          <p:nvPr/>
        </p:nvSpPr>
        <p:spPr>
          <a:xfrm>
            <a:off x="8187481" y="4067175"/>
            <a:ext cx="228600" cy="228600"/>
          </a:xfrm>
          <a:prstGeom prst="roundRect">
            <a:avLst>
              <a:gd name="adj" fmla="val 50000"/>
            </a:avLst>
          </a:prstGeom>
          <a:solidFill>
            <a:srgbClr val="09090B"/>
          </a:solidFill>
          <a:ln w="38100" cap="flat" cmpd="sng">
            <a:solidFill>
              <a:srgbClr val="00FF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4"/>
          <p:cNvSpPr/>
          <p:nvPr/>
        </p:nvSpPr>
        <p:spPr>
          <a:xfrm>
            <a:off x="10393412" y="4067175"/>
            <a:ext cx="228600" cy="228600"/>
          </a:xfrm>
          <a:prstGeom prst="roundRect">
            <a:avLst>
              <a:gd name="adj" fmla="val 50000"/>
            </a:avLst>
          </a:prstGeom>
          <a:solidFill>
            <a:srgbClr val="09090B"/>
          </a:solidFill>
          <a:ln w="38100" cap="flat" cmpd="sng">
            <a:solidFill>
              <a:srgbClr val="00FF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251"/>
        <p:cNvGrpSpPr/>
        <p:nvPr/>
      </p:nvGrpSpPr>
      <p:grpSpPr>
        <a:xfrm>
          <a:off x="0" y="0"/>
          <a:ext cx="0" cy="0"/>
          <a:chOff x="0" y="0"/>
          <a:chExt cx="0" cy="0"/>
        </a:xfrm>
      </p:grpSpPr>
      <p:pic>
        <p:nvPicPr>
          <p:cNvPr id="252" name="Google Shape;252;p25" descr="image.png"/>
          <p:cNvPicPr preferRelativeResize="0"/>
          <p:nvPr/>
        </p:nvPicPr>
        <p:blipFill rotWithShape="1">
          <a:blip r:embed="rId3">
            <a:alphaModFix/>
          </a:blip>
          <a:srcRect/>
          <a:stretch/>
        </p:blipFill>
        <p:spPr>
          <a:xfrm>
            <a:off x="5715000" y="3255615"/>
            <a:ext cx="762000" cy="57150"/>
          </a:xfrm>
          <a:prstGeom prst="rect">
            <a:avLst/>
          </a:prstGeom>
          <a:noFill/>
          <a:ln>
            <a:noFill/>
          </a:ln>
        </p:spPr>
      </p:pic>
      <p:sp>
        <p:nvSpPr>
          <p:cNvPr id="253" name="Google Shape;253;p25"/>
          <p:cNvSpPr txBox="1"/>
          <p:nvPr/>
        </p:nvSpPr>
        <p:spPr>
          <a:xfrm>
            <a:off x="1235392" y="1247165"/>
            <a:ext cx="9721200" cy="1847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0FF9D"/>
                </a:solidFill>
                <a:latin typeface="Urbanist"/>
                <a:ea typeface="Urbanist"/>
                <a:cs typeface="Urbanist"/>
                <a:sym typeface="Urbanist"/>
              </a:rPr>
              <a:t>Part 4: The Applied Engineer</a:t>
            </a:r>
            <a:endParaRPr/>
          </a:p>
        </p:txBody>
      </p:sp>
      <p:sp>
        <p:nvSpPr>
          <p:cNvPr id="254" name="Google Shape;254;p25"/>
          <p:cNvSpPr txBox="1"/>
          <p:nvPr/>
        </p:nvSpPr>
        <p:spPr>
          <a:xfrm>
            <a:off x="2286000" y="3693765"/>
            <a:ext cx="7620000" cy="128007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A1A1AA"/>
                </a:solidFill>
                <a:latin typeface="Urbanist"/>
                <a:ea typeface="Urbanist"/>
                <a:cs typeface="Urbanist"/>
                <a:sym typeface="Urbanist"/>
              </a:rPr>
              <a:t>Tutorial RAG is easy. Production RAG is incredibly hard.</a:t>
            </a:r>
            <a:br>
              <a:rPr lang="en-US" sz="1800" b="0" i="0" u="none" strike="noStrike" cap="none">
                <a:solidFill>
                  <a:schemeClr val="dk1"/>
                </a:solidFill>
                <a:latin typeface="Calibri"/>
                <a:ea typeface="Calibri"/>
                <a:cs typeface="Calibri"/>
                <a:sym typeface="Calibri"/>
              </a:rPr>
            </a:br>
            <a:r>
              <a:rPr lang="en-US" sz="2100" b="0" i="0" u="none" strike="noStrike" cap="none">
                <a:solidFill>
                  <a:srgbClr val="A1A1AA"/>
                </a:solidFill>
                <a:latin typeface="Urbanist"/>
                <a:ea typeface="Urbanist"/>
                <a:cs typeface="Urbanist"/>
                <a:sym typeface="Urbanist"/>
              </a:rPr>
              <a:t> How do we bridge the gap between a Colab notebook and Enterprise Software?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258"/>
        <p:cNvGrpSpPr/>
        <p:nvPr/>
      </p:nvGrpSpPr>
      <p:grpSpPr>
        <a:xfrm>
          <a:off x="0" y="0"/>
          <a:ext cx="0" cy="0"/>
          <a:chOff x="0" y="0"/>
          <a:chExt cx="0" cy="0"/>
        </a:xfrm>
      </p:grpSpPr>
      <p:sp>
        <p:nvSpPr>
          <p:cNvPr id="259" name="Google Shape;259;p26"/>
          <p:cNvSpPr txBox="1"/>
          <p:nvPr/>
        </p:nvSpPr>
        <p:spPr>
          <a:xfrm>
            <a:off x="581025" y="581025"/>
            <a:ext cx="11581447"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AFAFA"/>
                </a:solidFill>
                <a:latin typeface="Urbanist"/>
                <a:ea typeface="Urbanist"/>
                <a:cs typeface="Urbanist"/>
                <a:sym typeface="Urbanist"/>
              </a:rPr>
              <a:t>Beyond the </a:t>
            </a:r>
            <a:r>
              <a:rPr lang="en-US" sz="3600" b="1" i="0" u="none" strike="noStrike" cap="none">
                <a:solidFill>
                  <a:srgbClr val="00B8FF"/>
                </a:solidFill>
                <a:latin typeface="Urbanist"/>
                <a:ea typeface="Urbanist"/>
                <a:cs typeface="Urbanist"/>
                <a:sym typeface="Urbanist"/>
              </a:rPr>
              <a:t>Basics</a:t>
            </a:r>
            <a:endParaRPr/>
          </a:p>
        </p:txBody>
      </p:sp>
      <p:graphicFrame>
        <p:nvGraphicFramePr>
          <p:cNvPr id="260" name="Google Shape;260;p26"/>
          <p:cNvGraphicFramePr/>
          <p:nvPr/>
        </p:nvGraphicFramePr>
        <p:xfrm>
          <a:off x="581025" y="1256225"/>
          <a:ext cx="11010900" cy="5452125"/>
        </p:xfrm>
        <a:graphic>
          <a:graphicData uri="http://schemas.openxmlformats.org/drawingml/2006/table">
            <a:tbl>
              <a:tblPr firstRow="1" bandRow="1">
                <a:noFill/>
                <a:tableStyleId>{FE11D716-41D7-4BE5-90DB-184058EA83EC}</a:tableStyleId>
              </a:tblPr>
              <a:tblGrid>
                <a:gridCol w="1419975">
                  <a:extLst>
                    <a:ext uri="{9D8B030D-6E8A-4147-A177-3AD203B41FA5}">
                      <a16:colId xmlns:a16="http://schemas.microsoft.com/office/drawing/2014/main" val="20000"/>
                    </a:ext>
                  </a:extLst>
                </a:gridCol>
                <a:gridCol w="4020300">
                  <a:extLst>
                    <a:ext uri="{9D8B030D-6E8A-4147-A177-3AD203B41FA5}">
                      <a16:colId xmlns:a16="http://schemas.microsoft.com/office/drawing/2014/main" val="20001"/>
                    </a:ext>
                  </a:extLst>
                </a:gridCol>
                <a:gridCol w="5570625">
                  <a:extLst>
                    <a:ext uri="{9D8B030D-6E8A-4147-A177-3AD203B41FA5}">
                      <a16:colId xmlns:a16="http://schemas.microsoft.com/office/drawing/2014/main" val="20002"/>
                    </a:ext>
                  </a:extLst>
                </a:gridCol>
              </a:tblGrid>
              <a:tr h="1090425">
                <a:tc>
                  <a:txBody>
                    <a:bodyPr/>
                    <a:lstStyle/>
                    <a:p>
                      <a:pPr marL="0" marR="0" lvl="0" indent="0" algn="l" rtl="0">
                        <a:spcBef>
                          <a:spcPts val="0"/>
                        </a:spcBef>
                        <a:spcAft>
                          <a:spcPts val="0"/>
                        </a:spcAft>
                        <a:buNone/>
                      </a:pPr>
                      <a:r>
                        <a:rPr lang="en-US" sz="1500" b="1" i="0" u="none" strike="noStrike" cap="none">
                          <a:solidFill>
                            <a:srgbClr val="FAFAFA"/>
                          </a:solidFill>
                          <a:latin typeface="Urbanist"/>
                          <a:ea typeface="Urbanist"/>
                          <a:cs typeface="Urbanist"/>
                          <a:sym typeface="Urbanist"/>
                        </a:rPr>
                        <a:t>Concept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1" i="0" u="none" strike="noStrike" cap="none">
                          <a:solidFill>
                            <a:srgbClr val="FAFAFA"/>
                          </a:solidFill>
                          <a:latin typeface="Urbanist"/>
                          <a:ea typeface="Urbanist"/>
                          <a:cs typeface="Urbanist"/>
                          <a:sym typeface="Urbanist"/>
                        </a:rPr>
                        <a:t>Basic Tutorial 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1" i="0" u="none" strike="noStrike" cap="none">
                          <a:solidFill>
                            <a:srgbClr val="FAFAFA"/>
                          </a:solidFill>
                          <a:latin typeface="Urbanist"/>
                          <a:ea typeface="Urbanist"/>
                          <a:cs typeface="Urbanist"/>
                          <a:sym typeface="Urbanist"/>
                        </a:rPr>
                        <a:t>Enterprise Production 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extLst>
                  <a:ext uri="{0D108BD9-81ED-4DB2-BD59-A6C34878D82A}">
                    <a16:rowId xmlns:a16="http://schemas.microsoft.com/office/drawing/2014/main" val="10000"/>
                  </a:ext>
                </a:extLst>
              </a:tr>
              <a:tr h="1090425">
                <a:tc>
                  <a:txBody>
                    <a:bodyPr/>
                    <a:lstStyle/>
                    <a:p>
                      <a:pPr marL="0" marR="0" lvl="0" indent="0" algn="l" rtl="0">
                        <a:spcBef>
                          <a:spcPts val="0"/>
                        </a:spcBef>
                        <a:spcAft>
                          <a:spcPts val="0"/>
                        </a:spcAft>
                        <a:buNone/>
                      </a:pPr>
                      <a:r>
                        <a:rPr lang="en-US" sz="1500" b="1" i="0" u="none" strike="noStrike" cap="none">
                          <a:solidFill>
                            <a:srgbClr val="A1A1AA"/>
                          </a:solidFill>
                          <a:latin typeface="Urbanist"/>
                          <a:ea typeface="Urbanist"/>
                          <a:cs typeface="Urbanist"/>
                          <a:sym typeface="Urbanist"/>
                        </a:rPr>
                        <a:t>Search Method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0" i="0" u="none" strike="noStrike" cap="none">
                          <a:solidFill>
                            <a:srgbClr val="A1A1AA"/>
                          </a:solidFill>
                          <a:latin typeface="Urbanist"/>
                          <a:ea typeface="Urbanist"/>
                          <a:cs typeface="Urbanist"/>
                          <a:sym typeface="Urbanist"/>
                        </a:rPr>
                        <a:t>Dense Vector Search only (Cosine Similarity). Fails on exact keyword matches like product SKUs.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1" i="0" u="none" strike="noStrike" cap="none">
                          <a:solidFill>
                            <a:srgbClr val="A1A1AA"/>
                          </a:solidFill>
                          <a:latin typeface="Urbanist"/>
                          <a:ea typeface="Urbanist"/>
                          <a:cs typeface="Urbanist"/>
                          <a:sym typeface="Urbanist"/>
                        </a:rPr>
                        <a:t>Hybrid Search</a:t>
                      </a:r>
                      <a:r>
                        <a:rPr lang="en-US" sz="1500" b="0" i="0" u="none" strike="noStrike" cap="none">
                          <a:solidFill>
                            <a:srgbClr val="A1A1AA"/>
                          </a:solidFill>
                          <a:latin typeface="Urbanist"/>
                          <a:ea typeface="Urbanist"/>
                          <a:cs typeface="Urbanist"/>
                          <a:sym typeface="Urbanist"/>
                        </a:rPr>
                        <a:t>: Combining Vector Search (semantic) with BM25 (keyword matching) via Reciprocal Rank Fusion.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extLst>
                  <a:ext uri="{0D108BD9-81ED-4DB2-BD59-A6C34878D82A}">
                    <a16:rowId xmlns:a16="http://schemas.microsoft.com/office/drawing/2014/main" val="10001"/>
                  </a:ext>
                </a:extLst>
              </a:tr>
              <a:tr h="1090425">
                <a:tc>
                  <a:txBody>
                    <a:bodyPr/>
                    <a:lstStyle/>
                    <a:p>
                      <a:pPr marL="0" marR="0" lvl="0" indent="0" algn="l" rtl="0">
                        <a:spcBef>
                          <a:spcPts val="0"/>
                        </a:spcBef>
                        <a:spcAft>
                          <a:spcPts val="0"/>
                        </a:spcAft>
                        <a:buNone/>
                      </a:pPr>
                      <a:r>
                        <a:rPr lang="en-US" sz="1500" b="1" i="0" u="none" strike="noStrike" cap="none">
                          <a:solidFill>
                            <a:srgbClr val="A1A1AA"/>
                          </a:solidFill>
                          <a:latin typeface="Urbanist"/>
                          <a:ea typeface="Urbanist"/>
                          <a:cs typeface="Urbanist"/>
                          <a:sym typeface="Urbanist"/>
                        </a:rPr>
                        <a:t>Result Ordering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0" i="0" u="none" strike="noStrike" cap="none">
                          <a:solidFill>
                            <a:srgbClr val="A1A1AA"/>
                          </a:solidFill>
                          <a:latin typeface="Urbanist"/>
                          <a:ea typeface="Urbanist"/>
                          <a:cs typeface="Urbanist"/>
                          <a:sym typeface="Urbanist"/>
                        </a:rPr>
                        <a:t>Raw distance metrics determine the Top-K results returned to the LLM.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1" i="0" u="none" strike="noStrike" cap="none">
                          <a:solidFill>
                            <a:srgbClr val="A1A1AA"/>
                          </a:solidFill>
                          <a:latin typeface="Urbanist"/>
                          <a:ea typeface="Urbanist"/>
                          <a:cs typeface="Urbanist"/>
                          <a:sym typeface="Urbanist"/>
                        </a:rPr>
                        <a:t>Reranking</a:t>
                      </a:r>
                      <a:r>
                        <a:rPr lang="en-US" sz="1500" b="0" i="0" u="none" strike="noStrike" cap="none">
                          <a:solidFill>
                            <a:srgbClr val="A1A1AA"/>
                          </a:solidFill>
                          <a:latin typeface="Urbanist"/>
                          <a:ea typeface="Urbanist"/>
                          <a:cs typeface="Urbanist"/>
                          <a:sym typeface="Urbanist"/>
                        </a:rPr>
                        <a:t>: Using a Cross-Encoder (e.g., Cohere Rerank) to re-score and re-order the retrieved chunks for max relevance.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extLst>
                  <a:ext uri="{0D108BD9-81ED-4DB2-BD59-A6C34878D82A}">
                    <a16:rowId xmlns:a16="http://schemas.microsoft.com/office/drawing/2014/main" val="10002"/>
                  </a:ext>
                </a:extLst>
              </a:tr>
              <a:tr h="1090425">
                <a:tc>
                  <a:txBody>
                    <a:bodyPr/>
                    <a:lstStyle/>
                    <a:p>
                      <a:pPr marL="0" marR="0" lvl="0" indent="0" algn="l" rtl="0">
                        <a:spcBef>
                          <a:spcPts val="0"/>
                        </a:spcBef>
                        <a:spcAft>
                          <a:spcPts val="0"/>
                        </a:spcAft>
                        <a:buNone/>
                      </a:pPr>
                      <a:r>
                        <a:rPr lang="en-US" sz="1500" b="1" i="0" u="none" strike="noStrike" cap="none">
                          <a:solidFill>
                            <a:srgbClr val="A1A1AA"/>
                          </a:solidFill>
                          <a:latin typeface="Urbanist"/>
                          <a:ea typeface="Urbanist"/>
                          <a:cs typeface="Urbanist"/>
                          <a:sym typeface="Urbanist"/>
                        </a:rPr>
                        <a:t>Quality Control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0" i="0" u="none" strike="noStrike" cap="none">
                          <a:solidFill>
                            <a:srgbClr val="A1A1AA"/>
                          </a:solidFill>
                          <a:latin typeface="Urbanist"/>
                          <a:ea typeface="Urbanist"/>
                          <a:cs typeface="Urbanist"/>
                          <a:sym typeface="Urbanist"/>
                        </a:rPr>
                        <a:t>"Eyeballing" it. Running 5 queries and deciding it looks "good enough."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1" i="0" u="none" strike="noStrike" cap="none">
                          <a:solidFill>
                            <a:srgbClr val="A1A1AA"/>
                          </a:solidFill>
                          <a:latin typeface="Urbanist"/>
                          <a:ea typeface="Urbanist"/>
                          <a:cs typeface="Urbanist"/>
                          <a:sym typeface="Urbanist"/>
                        </a:rPr>
                        <a:t>Evaluation Frameworks</a:t>
                      </a:r>
                      <a:r>
                        <a:rPr lang="en-US" sz="1500" b="0" i="0" u="none" strike="noStrike" cap="none">
                          <a:solidFill>
                            <a:srgbClr val="A1A1AA"/>
                          </a:solidFill>
                          <a:latin typeface="Urbanist"/>
                          <a:ea typeface="Urbanist"/>
                          <a:cs typeface="Urbanist"/>
                          <a:sym typeface="Urbanist"/>
                        </a:rPr>
                        <a:t>: Automated CI/CD pipelines using tools like RAGAS to measure Faithfulness and Answer Relevance mathematically.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extLst>
                  <a:ext uri="{0D108BD9-81ED-4DB2-BD59-A6C34878D82A}">
                    <a16:rowId xmlns:a16="http://schemas.microsoft.com/office/drawing/2014/main" val="10003"/>
                  </a:ext>
                </a:extLst>
              </a:tr>
              <a:tr h="1090425">
                <a:tc>
                  <a:txBody>
                    <a:bodyPr/>
                    <a:lstStyle/>
                    <a:p>
                      <a:pPr marL="0" marR="0" lvl="0" indent="0" algn="l" rtl="0">
                        <a:spcBef>
                          <a:spcPts val="0"/>
                        </a:spcBef>
                        <a:spcAft>
                          <a:spcPts val="0"/>
                        </a:spcAft>
                        <a:buNone/>
                      </a:pPr>
                      <a:r>
                        <a:rPr lang="en-US" sz="1500" b="1" i="0" u="none" strike="noStrike" cap="none">
                          <a:solidFill>
                            <a:srgbClr val="A1A1AA"/>
                          </a:solidFill>
                          <a:latin typeface="Urbanist"/>
                          <a:ea typeface="Urbanist"/>
                          <a:cs typeface="Urbanist"/>
                          <a:sym typeface="Urbanist"/>
                        </a:rPr>
                        <a:t>Data Sync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0" i="0" u="none" strike="noStrike" cap="none">
                          <a:solidFill>
                            <a:srgbClr val="A1A1AA"/>
                          </a:solidFill>
                          <a:latin typeface="Urbanist"/>
                          <a:ea typeface="Urbanist"/>
                          <a:cs typeface="Urbanist"/>
                          <a:sym typeface="Urbanist"/>
                        </a:rPr>
                        <a:t>Static PDF loaded once during script initialization.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tc>
                  <a:txBody>
                    <a:bodyPr/>
                    <a:lstStyle/>
                    <a:p>
                      <a:pPr marL="0" marR="0" lvl="0" indent="0" algn="l" rtl="0">
                        <a:spcBef>
                          <a:spcPts val="0"/>
                        </a:spcBef>
                        <a:spcAft>
                          <a:spcPts val="0"/>
                        </a:spcAft>
                        <a:buNone/>
                      </a:pPr>
                      <a:r>
                        <a:rPr lang="en-US" sz="1500" b="0" i="0" u="none" strike="noStrike" cap="none">
                          <a:solidFill>
                            <a:srgbClr val="A1A1AA"/>
                          </a:solidFill>
                          <a:latin typeface="Urbanist"/>
                          <a:ea typeface="Urbanist"/>
                          <a:cs typeface="Urbanist"/>
                          <a:sym typeface="Urbanist"/>
                        </a:rPr>
                        <a:t>Event-driven architectures automatically updating Vector DBs via webhooks when underlying data sources change.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8181B"/>
                    </a:solidFill>
                  </a:tcPr>
                </a:tc>
                <a:extLst>
                  <a:ext uri="{0D108BD9-81ED-4DB2-BD59-A6C34878D82A}">
                    <a16:rowId xmlns:a16="http://schemas.microsoft.com/office/drawing/2014/main" val="10004"/>
                  </a:ext>
                </a:extLst>
              </a:tr>
            </a:tbl>
          </a:graphicData>
        </a:graphic>
      </p:graphicFrame>
      <p:sp>
        <p:nvSpPr>
          <p:cNvPr id="261" name="Google Shape;261;p26"/>
          <p:cNvSpPr/>
          <p:nvPr/>
        </p:nvSpPr>
        <p:spPr>
          <a:xfrm>
            <a:off x="590550" y="2286000"/>
            <a:ext cx="1419969"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6"/>
          <p:cNvSpPr/>
          <p:nvPr/>
        </p:nvSpPr>
        <p:spPr>
          <a:xfrm>
            <a:off x="2010519" y="2286000"/>
            <a:ext cx="4020294"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6"/>
          <p:cNvSpPr/>
          <p:nvPr/>
        </p:nvSpPr>
        <p:spPr>
          <a:xfrm>
            <a:off x="6030813" y="2286000"/>
            <a:ext cx="5570636"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6"/>
          <p:cNvSpPr/>
          <p:nvPr/>
        </p:nvSpPr>
        <p:spPr>
          <a:xfrm>
            <a:off x="590550" y="3667125"/>
            <a:ext cx="1419969"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6"/>
          <p:cNvSpPr/>
          <p:nvPr/>
        </p:nvSpPr>
        <p:spPr>
          <a:xfrm>
            <a:off x="2010519" y="3667125"/>
            <a:ext cx="4020294"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6" name="Google Shape;266;p26"/>
          <p:cNvSpPr/>
          <p:nvPr/>
        </p:nvSpPr>
        <p:spPr>
          <a:xfrm>
            <a:off x="6030813" y="3667125"/>
            <a:ext cx="5570636"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26"/>
          <p:cNvSpPr/>
          <p:nvPr/>
        </p:nvSpPr>
        <p:spPr>
          <a:xfrm>
            <a:off x="590550" y="5048250"/>
            <a:ext cx="1419969"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8" name="Google Shape;268;p26"/>
          <p:cNvSpPr/>
          <p:nvPr/>
        </p:nvSpPr>
        <p:spPr>
          <a:xfrm>
            <a:off x="2010519" y="5048250"/>
            <a:ext cx="4020294"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9" name="Google Shape;269;p26"/>
          <p:cNvSpPr/>
          <p:nvPr/>
        </p:nvSpPr>
        <p:spPr>
          <a:xfrm>
            <a:off x="6030813" y="5048250"/>
            <a:ext cx="5570636"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0" name="Google Shape;270;p26"/>
          <p:cNvSpPr/>
          <p:nvPr/>
        </p:nvSpPr>
        <p:spPr>
          <a:xfrm>
            <a:off x="590550" y="6429375"/>
            <a:ext cx="1419969"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1" name="Google Shape;271;p26"/>
          <p:cNvSpPr/>
          <p:nvPr/>
        </p:nvSpPr>
        <p:spPr>
          <a:xfrm>
            <a:off x="2010519" y="6429375"/>
            <a:ext cx="4020294"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2" name="Google Shape;272;p26"/>
          <p:cNvSpPr/>
          <p:nvPr/>
        </p:nvSpPr>
        <p:spPr>
          <a:xfrm>
            <a:off x="6030813" y="6429375"/>
            <a:ext cx="5570636" cy="9525"/>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Shape 276"/>
        <p:cNvGrpSpPr/>
        <p:nvPr/>
      </p:nvGrpSpPr>
      <p:grpSpPr>
        <a:xfrm>
          <a:off x="0" y="0"/>
          <a:ext cx="0" cy="0"/>
          <a:chOff x="0" y="0"/>
          <a:chExt cx="0" cy="0"/>
        </a:xfrm>
      </p:grpSpPr>
      <p:pic>
        <p:nvPicPr>
          <p:cNvPr id="277" name="Google Shape;277;p27" descr="image.png"/>
          <p:cNvPicPr preferRelativeResize="0"/>
          <p:nvPr/>
        </p:nvPicPr>
        <p:blipFill rotWithShape="1">
          <a:blip r:embed="rId3">
            <a:alphaModFix/>
          </a:blip>
          <a:srcRect/>
          <a:stretch/>
        </p:blipFill>
        <p:spPr>
          <a:xfrm>
            <a:off x="2690812" y="4151858"/>
            <a:ext cx="6810375" cy="1333500"/>
          </a:xfrm>
          <a:prstGeom prst="rect">
            <a:avLst/>
          </a:prstGeom>
          <a:noFill/>
          <a:ln>
            <a:noFill/>
          </a:ln>
        </p:spPr>
      </p:pic>
      <p:sp>
        <p:nvSpPr>
          <p:cNvPr id="278" name="Google Shape;278;p27"/>
          <p:cNvSpPr txBox="1"/>
          <p:nvPr/>
        </p:nvSpPr>
        <p:spPr>
          <a:xfrm>
            <a:off x="305276" y="1372492"/>
            <a:ext cx="11581447" cy="1095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200" b="1" i="0" u="none" strike="noStrike" cap="none">
                <a:solidFill>
                  <a:srgbClr val="00FF9D"/>
                </a:solidFill>
                <a:latin typeface="Urbanist"/>
                <a:ea typeface="Urbanist"/>
                <a:cs typeface="Urbanist"/>
                <a:sym typeface="Urbanist"/>
              </a:rPr>
              <a:t>Any Questions?</a:t>
            </a:r>
            <a:endParaRPr/>
          </a:p>
        </p:txBody>
      </p:sp>
      <p:sp>
        <p:nvSpPr>
          <p:cNvPr id="279" name="Google Shape;279;p27"/>
          <p:cNvSpPr txBox="1"/>
          <p:nvPr/>
        </p:nvSpPr>
        <p:spPr>
          <a:xfrm>
            <a:off x="581025" y="2696467"/>
            <a:ext cx="1102995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dirty="0">
                <a:solidFill>
                  <a:srgbClr val="A1A1AA"/>
                </a:solidFill>
                <a:latin typeface="Urbanist"/>
                <a:ea typeface="Urbanist"/>
                <a:cs typeface="Urbanist"/>
                <a:sym typeface="Urbanist"/>
              </a:rPr>
              <a:t>Thank you IEEE Pharos University!</a:t>
            </a:r>
            <a:endParaRPr dirty="0"/>
          </a:p>
        </p:txBody>
      </p:sp>
      <p:sp>
        <p:nvSpPr>
          <p:cNvPr id="280" name="Google Shape;280;p27"/>
          <p:cNvSpPr txBox="1"/>
          <p:nvPr/>
        </p:nvSpPr>
        <p:spPr>
          <a:xfrm>
            <a:off x="581025" y="3313658"/>
            <a:ext cx="1102995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A1A1AA"/>
                </a:solidFill>
                <a:latin typeface="Urbanist"/>
                <a:ea typeface="Urbanist"/>
                <a:cs typeface="Urbanist"/>
                <a:sym typeface="Urbanist"/>
              </a:rPr>
              <a:t>Code and Slides are available on GitHub.</a:t>
            </a:r>
            <a:endParaRPr/>
          </a:p>
        </p:txBody>
      </p:sp>
      <p:sp>
        <p:nvSpPr>
          <p:cNvPr id="281" name="Google Shape;281;p27"/>
          <p:cNvSpPr/>
          <p:nvPr/>
        </p:nvSpPr>
        <p:spPr>
          <a:xfrm>
            <a:off x="6034087" y="4351883"/>
            <a:ext cx="9525" cy="933450"/>
          </a:xfrm>
          <a:prstGeom prst="rect">
            <a:avLst/>
          </a:prstGeom>
          <a:solidFill>
            <a:srgbClr val="272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82" name="Google Shape;282;p27" descr="image.png"/>
          <p:cNvPicPr preferRelativeResize="0"/>
          <p:nvPr/>
        </p:nvPicPr>
        <p:blipFill rotWithShape="1">
          <a:blip r:embed="rId4">
            <a:alphaModFix/>
          </a:blip>
          <a:srcRect/>
          <a:stretch/>
        </p:blipFill>
        <p:spPr>
          <a:xfrm>
            <a:off x="3195637" y="4666208"/>
            <a:ext cx="266700" cy="304800"/>
          </a:xfrm>
          <a:prstGeom prst="rect">
            <a:avLst/>
          </a:prstGeom>
          <a:noFill/>
          <a:ln>
            <a:noFill/>
          </a:ln>
        </p:spPr>
      </p:pic>
      <p:sp>
        <p:nvSpPr>
          <p:cNvPr id="283" name="Google Shape;283;p27"/>
          <p:cNvSpPr txBox="1"/>
          <p:nvPr/>
        </p:nvSpPr>
        <p:spPr>
          <a:xfrm>
            <a:off x="3614737" y="4542383"/>
            <a:ext cx="1620202"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A1A1AA"/>
                </a:solidFill>
                <a:latin typeface="Urbanist"/>
                <a:ea typeface="Urbanist"/>
                <a:cs typeface="Urbanist"/>
                <a:sym typeface="Urbanist"/>
              </a:rPr>
              <a:t>Connect with me</a:t>
            </a:r>
            <a:endParaRPr/>
          </a:p>
        </p:txBody>
      </p:sp>
      <p:sp>
        <p:nvSpPr>
          <p:cNvPr id="284" name="Google Shape;284;p27"/>
          <p:cNvSpPr txBox="1"/>
          <p:nvPr/>
        </p:nvSpPr>
        <p:spPr>
          <a:xfrm>
            <a:off x="3614737" y="4790033"/>
            <a:ext cx="15430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AFAFA"/>
                </a:solidFill>
                <a:latin typeface="Urbanist"/>
                <a:ea typeface="Urbanist"/>
                <a:cs typeface="Urbanist"/>
                <a:sym typeface="Urbanist"/>
              </a:rPr>
              <a:t>Youssef Bastawisy</a:t>
            </a:r>
            <a:endParaRPr/>
          </a:p>
        </p:txBody>
      </p:sp>
      <p:pic>
        <p:nvPicPr>
          <p:cNvPr id="285" name="Google Shape;285;p27" title="qr-code.png"/>
          <p:cNvPicPr preferRelativeResize="0"/>
          <p:nvPr/>
        </p:nvPicPr>
        <p:blipFill>
          <a:blip r:embed="rId5">
            <a:alphaModFix/>
          </a:blip>
          <a:stretch>
            <a:fillRect/>
          </a:stretch>
        </p:blipFill>
        <p:spPr>
          <a:xfrm>
            <a:off x="7281501" y="4270901"/>
            <a:ext cx="1095376" cy="109537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1134</Words>
  <Application>Microsoft Office PowerPoint</Application>
  <PresentationFormat>Widescreen</PresentationFormat>
  <Paragraphs>89</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Calibri</vt:lpstr>
      <vt:lpstr>Arial</vt:lpstr>
      <vt:lpstr>Urbanist</vt:lpstr>
      <vt:lpstr>Urbanist SemiBold</vt:lpstr>
      <vt:lpstr>Urbanist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Youssef Bastawisy</cp:lastModifiedBy>
  <cp:revision>1</cp:revision>
  <dcterms:modified xsi:type="dcterms:W3CDTF">2026-03-10T01:59:36Z</dcterms:modified>
</cp:coreProperties>
</file>